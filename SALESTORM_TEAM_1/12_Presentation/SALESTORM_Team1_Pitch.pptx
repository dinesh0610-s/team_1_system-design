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c63375b1-5573-4094-b793-4fed32fe8d0c}">
          <p14:sldIdLst>
            <p14:sldId id="256"/>
            <p14:sldId id="257"/>
            <p14:sldId id="258"/>
            <p14:sldId id="259"/>
            <p14:sldId id="260"/>
            <p14:sldId id="261"/>
            <p14:sldId id="262"/>
            <p14:sldId id="263"/>
          </p14:sldIdLst>
        </p14:section>
        <p14:section name="Backup" id="{8d30a40c-a9be-7292-3b81-e870a7948a15}">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1 | 30 sec]
Good afternoon, we are Team 1. Picture a flash sale: ten thousand customers click Buy Now at the same instant, and we have exactly one hundred units. The business question is simple to ask and hard to answer: how do we sell those hundred units correctly, without overselling, while payments and orders stay reliable even when services fail? Our answer is a design-first architecture, validated by a simulation.
Likely jury question: Why is this a hard problem? Answer: Ten thousand requests compete for one hundred units, so any non-atomic check-then-update will oversell, and payment or order failures can leave stock or money in the wrong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1 | 30 sec]
We turned the problem into four hard guarantees that must hold one hundred percent of the time: never oversell, never duplicate a reservation, charge or order, never lose a paid order, and never store raw card data. Alongside those we set targets: ten thousand requests per second with p99 under one hundred fifty milliseconds, and up to five hundred thousand at fifty times scale. We tested with two percent duplicates, five percent declines and a thirty-second Order Service outage.
Likely jury question: Which requirements are guarantees and which are targets? Answer: The four guarantees are absolute. Latency, throughput and recovery times are targets we design for and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1 | 60 sec]
Our architecture is a four-stage funnel that shrinks the load at every step. Stage one is the edge: the CDN absorbs catalog reads, a virtual waiting room meters five hundred thousand requests down to ten to twenty thousand per second, and the API gateway checks the JWT, rate limits, and the Idempotency-Key. Stage two is a Redis Lua gate: an atomic script decides the winners in memory, so nine thousand nine hundred losers are rejected without touching the database. Stage three is PostgreSQL, the authoritative ledger: only the hundred winners reach it, with a synchronous standby so we lose no data. Stage four is asynchronous: payment writes an outbox event in the same transaction, and Kafka delivers it to order, fulfilment, shipment and notification services. So the synchronous path ends at the ledger, and everything after is async.
Likely jury question: Which component is the likely bottleneck? Answer: The Redis gate, since all requests pass through it. It is in-memory and atomic, and at fifty times traffic we shard the hundred units across ten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2 | 60 sec]
Here is exactly what happens to ten thousand clicks. Each request passes the edge and reaches Redis. The Lua script runs atomically, one request at a time: it checks the idempotency key, then decrements stock if at least one unit remains. The first hundred get a reservation; the other nine thousand nine hundred get 409 Sold Out in under a tenth of a millisecond. Each winner then runs a single conditional update in PostgreSQL, where available must be at least one, with a check constraint as a backstop, and receives a ten-minute reservation. If two customers want the last unit, the script serialises them: one wins, one gets Sold Out. Unpaid reservations are released by an expiry sweeper using SKIP LOCKED. We rejected optimistic locking because ten thousand readers of the same version cause a retry storm, and row locks because they exhaust database connections.
Likely jury question: Where exactly is inventory consistency guaranteed? Answer: In two places. The Redis Lua script is the fast atomic gate, and the PostgreSQL conditional UPDATE with CHECK constraints is the authoritative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2 | 45 sec]
Payment never runs inside a database transaction. First the reservation moves to Payment Pending with a grace extension, then we call the gateway with a deterministic transaction reference. On success, ninety-five percent of the time, one transaction marks the reservation sold, the payment successful, and writes an outbox event. A decline releases the stock and returns 402. A gateway timeout returns 202 and a reconciliation worker polls the gateway. Duplicates replay the same result. If Order Service is down for thirty seconds, payments still succeed; the circuit breaker opens, then half-opens, then closes, and all hundred orders are created exactly once.
Likely jury question: How does the design recover from payment success followed by order failure? Answer: The outbox event is saved in the same transaction as the payment, so it cannot be lost. The relay retries behind a circuit breaker, and the order insert is idempotent on reservation_id.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3 | 45 sec]
We chose the Inventory and Reservation module. ReservationService depends on the interface IInventoryRepository, so the Postgres and Pessimistic implementations are interchangeable. That is Dependency Inversion and Liskov. The Redis gate only handles fast-path stock decisions, and the expiry sweeper only handles TTL expiry, which is single responsibility. Repositories are split per aggregate for interface segregation, and a new payment provider is just a new adapter behind the gateway factory, which is open-closed. Across the system we use eight patterns: Strategy, Factory, State, Observer, Adapter, Facade, Repository and Circuit Breaker.
Likely jury question: Why is this the correct service boundary? Answer: Inventory and reservation own stock state and its invariants. Payment and order only interact through reservation status changes and outbox events, so each can change or scale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Student 3 | 30 sec]
At fifty times traffic, the CDN and waiting room keep the load flat, and we shard the hundred units across ten Redis buckets so the gate scales. If the database fails, the synchronous standby gives zero data loss and recovery under thirty seconds. If the gateway fails, the circuit breaker and reconciliation worker take over. Our Python simulation with ten thousand requests confirmed one hundred units sold, zero violations across thirty-nine snapshots, and one hundred orders confirmed after the outage.
Likely jury question: What changes at 50x traffic? Answer: Load is shaped at the edge, and the single stock counter becomes ten Redis buckets with ring probing so no stock is stranded.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all three | Final jury question, 60-90 sec]
Question: 100 units remaining, 10,000 customers click Buy Now. Walk us through exactly what happens until the final valid orders are confirmed.
Answer: Traffic hits the CDN and waiting room, which meter it into a steady stream. The API gateway checks the JWT, rate limit and Idempotency-Key. Each request reaches the Redis Lua gate, where an atomic script decrements stock only if at least one unit remains. The first hundred get reservations; nine thousand nine hundred get 409 Sold Out in memory. Each winner runs a conditional update in PostgreSQL and holds a ten-minute reservation. When they pay, the reservation moves to Payment Pending, the gateway is called with a deterministic transaction reference, and on success one transaction marks it sold and writes an outbox event. Kafka delivers that event to Order Service, which creates the order idempotently. Declined payments and expired reservations release stock back to the pool, and later buyers can take it. Even if Order Service is down for thirty seconds, the outbox holds the events and the breaker drains them on recovery, so exactly one hundred orders end CONFIRMED.
AI-use note: Antigravity and Claude were used for drafting documents, diagrams and the simulation script. The team made the architecture decisions and validated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Jury question: How are illegal transitions prevented? Answer: The OrderStateMachine with ten IOrderState classes rejects illegal jumps such as CREATED to DELIVERED with InvalidStateTransitionError (HTTP 422). Reservation transitions are guarded by conditional UPDATEs that check rowcount.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Jury question: How are duplicates stopped at the API? Answer: Mutating endpoints require an Idempotency-Key header. Replays return the stored result, and UNIQUE constraints in PostgreSQL are the last line of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Jury question: How was the AI-generated simulation validated? Answer: We ran it ourselves and checked its assertions: sold never exceeds 100, stock never goes negative, duplicates are blocked, expired reservations are released, and all paid purchases reach CONFIRMED after the outage. It uses SQLite stand-ins, so it validates logic rather than infrastructure throughput.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Jury question: Why this concurrency strategy? Answer: Optimistic locking collapses into retries when thousands read the same version, and pessimistic locks exhaust connections. Letting Redis decide winners atomically in memory, then confirming only the winners in PostgreSQL, keeps the database load at about one hundred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731520" y="1828800"/>
            <a:ext cx="658368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SALESTORM  |  Team 1  |  SYSCRAFTERS 2026</a:t>
            </a:r>
            <a:endParaRPr lang="en-US" sz="1000" dirty="0"/>
          </a:p>
        </p:txBody>
      </p:sp>
      <p:sp>
        <p:nvSpPr>
          <p:cNvPr id="4" name="Text 2"/>
          <p:cNvSpPr/>
          <p:nvPr>
            <p:ph idx="102" type="title" hasCustomPrompt="1"/>
          </p:nvPr>
        </p:nvSpPr>
        <p:spPr>
          <a:xfrm>
            <a:off x="548640" y="365760"/>
            <a:ext cx="11091672" cy="9144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bg2"/>
          </a:solidFill>
          <a:ln/>
        </p:spPr>
      </p:sp>
      <p:sp>
        <p:nvSpPr>
          <p:cNvPr id="3"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SALESTORM  |  Team 1  |  SYSCRAFTERS 2026</a:t>
            </a:r>
            <a:endParaRPr lang="en-US" sz="1000" dirty="0"/>
          </a:p>
        </p:txBody>
      </p:sp>
      <p:sp>
        <p:nvSpPr>
          <p:cNvPr id="4" name="Text 2"/>
          <p:cNvSpPr/>
          <p:nvPr>
            <p:ph idx="102" type="title" hasCustomPrompt="1"/>
          </p:nvPr>
        </p:nvSpPr>
        <p:spPr>
          <a:xfrm>
            <a:off x="548640" y="365760"/>
            <a:ext cx="11091672" cy="9144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676656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SYSCRAFTERS 2026  |  SYSTEM DESIGN HACKATHON</a:t>
            </a:r>
            <a:endParaRPr lang="en-US" sz="1400" dirty="0"/>
          </a:p>
        </p:txBody>
      </p:sp>
      <p:sp>
        <p:nvSpPr>
          <p:cNvPr id="3" name="Text 1"/>
          <p:cNvSpPr/>
          <p:nvPr>
            <p:ph idx="101" type="title" hasCustomPrompt="1"/>
          </p:nvPr>
        </p:nvSpPr>
        <p:spPr>
          <a:xfrm>
            <a:off x="731520" y="1828800"/>
            <a:ext cx="6583680" cy="1188720"/>
          </a:xfrm>
          <a:prstGeom prst="rect">
            <a:avLst/>
          </a:prstGeom>
          <a:noFill/>
          <a:ln/>
        </p:spPr>
        <p:txBody>
          <a:bodyPr wrap="square" lIns="0" tIns="0" rIns="0" bIns="0" rtlCol="0" anchor="ctr"/>
          <a:lstStyle/>
          <a:p>
            <a:pPr algn="l" indent="0" marL="0">
              <a:buNone/>
            </a:pPr>
            <a:r>
              <a:rPr lang="en-US" sz="6600" b="1" dirty="0">
                <a:solidFill>
                  <a:schemeClr val="bg1"/>
                </a:solidFill>
              </a:rPr>
              <a:t>SALESTORM</a:t>
            </a:r>
            <a:endParaRPr lang="en-US" sz="6600" dirty="0"/>
          </a:p>
        </p:txBody>
      </p:sp>
      <p:sp>
        <p:nvSpPr>
          <p:cNvPr id="4" name="Text 2"/>
          <p:cNvSpPr txBox="1"/>
          <p:nvPr/>
        </p:nvSpPr>
        <p:spPr>
          <a:xfrm>
            <a:off x="731520" y="3200400"/>
            <a:ext cx="6217920" cy="1005840"/>
          </a:xfrm>
          <a:prstGeom prst="rect">
            <a:avLst/>
          </a:prstGeom>
          <a:noFill/>
          <a:ln/>
        </p:spPr>
        <p:txBody>
          <a:bodyPr wrap="square" lIns="0" tIns="0" rIns="0" bIns="0" rtlCol="0" anchor="t"/>
          <a:lstStyle/>
          <a:p>
            <a:pPr indent="0" marL="0">
              <a:buNone/>
            </a:pPr>
            <a:r>
              <a:rPr lang="en-US" sz="2600" dirty="0">
                <a:solidFill>
                  <a:schemeClr val="bg2"/>
                </a:solidFill>
              </a:rPr>
              <a:t>Selling 100 units to 10,000 buyers without overselling</a:t>
            </a:r>
            <a:endParaRPr lang="en-US" sz="2600" dirty="0"/>
          </a:p>
        </p:txBody>
      </p:sp>
      <p:sp>
        <p:nvSpPr>
          <p:cNvPr id="5" name="Text 3"/>
          <p:cNvSpPr txBox="1"/>
          <p:nvPr/>
        </p:nvSpPr>
        <p:spPr>
          <a:xfrm>
            <a:off x="731520" y="4937760"/>
            <a:ext cx="3657600" cy="365760"/>
          </a:xfrm>
          <a:prstGeom prst="rect">
            <a:avLst/>
          </a:prstGeom>
          <a:noFill/>
          <a:ln/>
        </p:spPr>
        <p:txBody>
          <a:bodyPr wrap="square" lIns="0" tIns="0" rIns="0" bIns="0" rtlCol="0" anchor="t"/>
          <a:lstStyle/>
          <a:p>
            <a:pPr indent="0" marL="0">
              <a:buNone/>
            </a:pPr>
            <a:r>
              <a:rPr lang="en-US" sz="1800" b="1" dirty="0">
                <a:solidFill>
                  <a:schemeClr val="accent1"/>
                </a:solidFill>
              </a:rPr>
              <a:t>Team 1</a:t>
            </a:r>
            <a:endParaRPr lang="en-US" sz="1800" dirty="0"/>
          </a:p>
        </p:txBody>
      </p:sp>
      <p:sp>
        <p:nvSpPr>
          <p:cNvPr id="6" name="Text 4"/>
          <p:cNvSpPr txBox="1"/>
          <p:nvPr/>
        </p:nvSpPr>
        <p:spPr>
          <a:xfrm>
            <a:off x="731520" y="5349240"/>
            <a:ext cx="6400800" cy="365760"/>
          </a:xfrm>
          <a:prstGeom prst="rect">
            <a:avLst/>
          </a:prstGeom>
          <a:noFill/>
          <a:ln/>
        </p:spPr>
        <p:txBody>
          <a:bodyPr wrap="square" lIns="0" tIns="0" rIns="0" bIns="0" rtlCol="0" anchor="t"/>
          <a:lstStyle/>
          <a:p>
            <a:pPr indent="0" marL="0">
              <a:buNone/>
            </a:pPr>
            <a:r>
              <a:rPr lang="en-US" sz="1400" dirty="0">
                <a:solidFill>
                  <a:schemeClr val="bg2"/>
                </a:solidFill>
              </a:rPr>
              <a:t>High-scale e-commerce flash sale  |  design-first, AI-assisted</a:t>
            </a:r>
            <a:endParaRPr lang="en-US" sz="1400" dirty="0"/>
          </a:p>
        </p:txBody>
      </p:sp>
      <p:sp>
        <p:nvSpPr>
          <p:cNvPr id="7" name="stat-panel"/>
          <p:cNvSpPr/>
          <p:nvPr/>
        </p:nvSpPr>
        <p:spPr>
          <a:xfrm>
            <a:off x="7680960" y="1097280"/>
            <a:ext cx="3931920" cy="4663440"/>
          </a:xfrm>
          <a:prstGeom prst="roundRect">
            <a:avLst>
              <a:gd name="adj" fmla="val 2791"/>
            </a:avLst>
          </a:prstGeom>
          <a:solidFill>
            <a:schemeClr val="tx2"/>
          </a:solidFill>
          <a:ln/>
        </p:spPr>
      </p:sp>
      <p:sp>
        <p:nvSpPr>
          <p:cNvPr id="8" name="Text 6"/>
          <p:cNvSpPr txBox="1"/>
          <p:nvPr/>
        </p:nvSpPr>
        <p:spPr>
          <a:xfrm>
            <a:off x="7680960" y="1417320"/>
            <a:ext cx="3931920" cy="1005840"/>
          </a:xfrm>
          <a:prstGeom prst="rect">
            <a:avLst/>
          </a:prstGeom>
          <a:noFill/>
          <a:ln/>
        </p:spPr>
        <p:txBody>
          <a:bodyPr wrap="square" lIns="0" tIns="0" rIns="0" bIns="0" rtlCol="0" anchor="t"/>
          <a:lstStyle/>
          <a:p>
            <a:pPr algn="ctr" indent="0" marL="0">
              <a:buNone/>
            </a:pPr>
            <a:r>
              <a:rPr lang="en-US" sz="6600" b="1" dirty="0">
                <a:solidFill>
                  <a:schemeClr val="accent1"/>
                </a:solidFill>
              </a:rPr>
              <a:t>10,000</a:t>
            </a:r>
            <a:endParaRPr lang="en-US" sz="6600" dirty="0"/>
          </a:p>
        </p:txBody>
      </p:sp>
      <p:sp>
        <p:nvSpPr>
          <p:cNvPr id="9" name="Text 7"/>
          <p:cNvSpPr txBox="1"/>
          <p:nvPr/>
        </p:nvSpPr>
        <p:spPr>
          <a:xfrm>
            <a:off x="7680960" y="2468880"/>
            <a:ext cx="3931920" cy="365760"/>
          </a:xfrm>
          <a:prstGeom prst="rect">
            <a:avLst/>
          </a:prstGeom>
          <a:noFill/>
          <a:ln/>
        </p:spPr>
        <p:txBody>
          <a:bodyPr wrap="square" lIns="0" tIns="0" rIns="0" bIns="0" rtlCol="0" anchor="t"/>
          <a:lstStyle/>
          <a:p>
            <a:pPr algn="ctr" indent="0" marL="0">
              <a:buNone/>
            </a:pPr>
            <a:r>
              <a:rPr lang="en-US" sz="1600" dirty="0">
                <a:solidFill>
                  <a:schemeClr val="bg1"/>
                </a:solidFill>
              </a:rPr>
              <a:t>concurrent buyers, one click each</a:t>
            </a:r>
            <a:endParaRPr lang="en-US" sz="1600" dirty="0"/>
          </a:p>
        </p:txBody>
      </p:sp>
      <p:sp>
        <p:nvSpPr>
          <p:cNvPr id="10" name="arrow-down"/>
          <p:cNvSpPr/>
          <p:nvPr/>
        </p:nvSpPr>
        <p:spPr>
          <a:xfrm>
            <a:off x="9372600" y="3017520"/>
            <a:ext cx="548640" cy="685800"/>
          </a:xfrm>
          <a:prstGeom prst="downArrow">
            <a:avLst/>
          </a:prstGeom>
          <a:solidFill>
            <a:schemeClr val="accent1"/>
          </a:solidFill>
          <a:ln/>
        </p:spPr>
      </p:sp>
      <p:sp>
        <p:nvSpPr>
          <p:cNvPr id="11" name="Text 9"/>
          <p:cNvSpPr txBox="1"/>
          <p:nvPr/>
        </p:nvSpPr>
        <p:spPr>
          <a:xfrm>
            <a:off x="7680960" y="3840480"/>
            <a:ext cx="3931920" cy="1005840"/>
          </a:xfrm>
          <a:prstGeom prst="rect">
            <a:avLst/>
          </a:prstGeom>
          <a:noFill/>
          <a:ln/>
        </p:spPr>
        <p:txBody>
          <a:bodyPr wrap="square" lIns="0" tIns="0" rIns="0" bIns="0" rtlCol="0" anchor="t"/>
          <a:lstStyle/>
          <a:p>
            <a:pPr algn="ctr" indent="0" marL="0">
              <a:buNone/>
            </a:pPr>
            <a:r>
              <a:rPr lang="en-US" sz="6600" b="1" dirty="0">
                <a:solidFill>
                  <a:schemeClr val="bg1"/>
                </a:solidFill>
              </a:rPr>
              <a:t>100</a:t>
            </a:r>
            <a:endParaRPr lang="en-US" sz="6600" dirty="0"/>
          </a:p>
        </p:txBody>
      </p:sp>
      <p:sp>
        <p:nvSpPr>
          <p:cNvPr id="12" name="Text 10"/>
          <p:cNvSpPr txBox="1"/>
          <p:nvPr/>
        </p:nvSpPr>
        <p:spPr>
          <a:xfrm>
            <a:off x="7680960" y="4892040"/>
            <a:ext cx="3931920" cy="365760"/>
          </a:xfrm>
          <a:prstGeom prst="rect">
            <a:avLst/>
          </a:prstGeom>
          <a:noFill/>
          <a:ln/>
        </p:spPr>
        <p:txBody>
          <a:bodyPr wrap="square" lIns="0" tIns="0" rIns="0" bIns="0" rtlCol="0" anchor="t"/>
          <a:lstStyle/>
          <a:p>
            <a:pPr algn="ctr" indent="0" marL="0">
              <a:buNone/>
            </a:pPr>
            <a:r>
              <a:rPr lang="en-US" sz="1600" dirty="0">
                <a:solidFill>
                  <a:schemeClr val="bg1"/>
                </a:solidFill>
              </a:rPr>
              <a:t>units in stock, zero oversell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Four guarantees that can never break</a:t>
            </a:r>
            <a:endParaRPr lang="en-US" sz="3400" dirty="0"/>
          </a:p>
        </p:txBody>
      </p:sp>
      <p:sp>
        <p:nvSpPr>
          <p:cNvPr id="3" name="Text 1"/>
          <p:cNvSpPr txBox="1"/>
          <p:nvPr/>
        </p:nvSpPr>
        <p:spPr>
          <a:xfrm>
            <a:off x="548640" y="1417320"/>
            <a:ext cx="36576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STRICT GUARANTEES</a:t>
            </a:r>
            <a:endParaRPr lang="en-US" sz="1200" dirty="0"/>
          </a:p>
        </p:txBody>
      </p:sp>
      <p:sp>
        <p:nvSpPr>
          <p:cNvPr id="4" name="card"/>
          <p:cNvSpPr/>
          <p:nvPr/>
        </p:nvSpPr>
        <p:spPr>
          <a:xfrm>
            <a:off x="548640" y="1783080"/>
            <a:ext cx="3474720" cy="2011680"/>
          </a:xfrm>
          <a:prstGeom prst="roundRect">
            <a:avLst>
              <a:gd name="adj" fmla="val 5455"/>
            </a:avLst>
          </a:prstGeom>
          <a:solidFill>
            <a:schemeClr val="bg1"/>
          </a:solidFill>
          <a:ln/>
          <a:effectLst>
            <a:outerShdw sx="100000" sy="100000" kx="0" ky="0" algn="bl" rotWithShape="0" blurRad="101600" dist="25400" dir="5400000">
              <a:srgbClr val="0B1220">
                <a:alpha val="12000"/>
              </a:srgbClr>
            </a:outerShdw>
          </a:effectLst>
        </p:spPr>
      </p:sp>
      <p:sp>
        <p:nvSpPr>
          <p:cNvPr id="5" name="icon-circle"/>
          <p:cNvSpPr/>
          <p:nvPr/>
        </p:nvSpPr>
        <p:spPr>
          <a:xfrm>
            <a:off x="822960" y="2011680"/>
            <a:ext cx="594360" cy="594360"/>
          </a:xfrm>
          <a:prstGeom prst="ellipse">
            <a:avLst/>
          </a:prstGeom>
          <a:solidFill>
            <a:schemeClr val="accent2"/>
          </a:solidFill>
          <a:ln/>
        </p:spPr>
      </p:sp>
      <p:pic>
        <p:nvPicPr>
          <p:cNvPr id="6" name="Image 0" descr="FaBoxes">    </p:cNvPr>
          <p:cNvPicPr>
            <a:picLocks noChangeAspect="1"/>
          </p:cNvPicPr>
          <p:nvPr/>
        </p:nvPicPr>
        <p:blipFill>
          <a:blip r:embed="rId1"/>
          <a:stretch>
            <a:fillRect/>
          </a:stretch>
        </p:blipFill>
        <p:spPr>
          <a:xfrm>
            <a:off x="977494" y="2166214"/>
            <a:ext cx="285293" cy="285293"/>
          </a:xfrm>
          <a:prstGeom prst="rect">
            <a:avLst/>
          </a:prstGeom>
        </p:spPr>
      </p:pic>
      <p:sp>
        <p:nvSpPr>
          <p:cNvPr id="7" name="Text 4"/>
          <p:cNvSpPr txBox="1"/>
          <p:nvPr/>
        </p:nvSpPr>
        <p:spPr>
          <a:xfrm>
            <a:off x="822960" y="2743200"/>
            <a:ext cx="3017520" cy="320040"/>
          </a:xfrm>
          <a:prstGeom prst="rect">
            <a:avLst/>
          </a:prstGeom>
          <a:noFill/>
          <a:ln/>
        </p:spPr>
        <p:txBody>
          <a:bodyPr wrap="square" lIns="0" tIns="0" rIns="0" bIns="0" rtlCol="0" anchor="t"/>
          <a:lstStyle/>
          <a:p>
            <a:pPr indent="0" marL="0">
              <a:buNone/>
            </a:pPr>
            <a:r>
              <a:rPr lang="en-US" sz="2000" b="1" dirty="0">
                <a:solidFill>
                  <a:schemeClr val="tx1"/>
                </a:solidFill>
              </a:rPr>
              <a:t>Zero overselling</a:t>
            </a:r>
            <a:endParaRPr lang="en-US" sz="2000" dirty="0"/>
          </a:p>
        </p:txBody>
      </p:sp>
      <p:sp>
        <p:nvSpPr>
          <p:cNvPr id="8" name="Text 5"/>
          <p:cNvSpPr txBox="1"/>
          <p:nvPr/>
        </p:nvSpPr>
        <p:spPr>
          <a:xfrm>
            <a:off x="822960" y="31089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Available + reserved + sold always equals the 100 units in stock</a:t>
            </a:r>
            <a:endParaRPr lang="en-US" sz="1400" dirty="0"/>
          </a:p>
        </p:txBody>
      </p:sp>
      <p:sp>
        <p:nvSpPr>
          <p:cNvPr id="9" name="card"/>
          <p:cNvSpPr/>
          <p:nvPr/>
        </p:nvSpPr>
        <p:spPr>
          <a:xfrm>
            <a:off x="4297680" y="1783080"/>
            <a:ext cx="3474720" cy="2011680"/>
          </a:xfrm>
          <a:prstGeom prst="roundRect">
            <a:avLst>
              <a:gd name="adj" fmla="val 5455"/>
            </a:avLst>
          </a:prstGeom>
          <a:solidFill>
            <a:schemeClr val="bg1"/>
          </a:solidFill>
          <a:ln/>
          <a:effectLst>
            <a:outerShdw sx="100000" sy="100000" kx="0" ky="0" algn="bl" rotWithShape="0" blurRad="101600" dist="25400" dir="5400000">
              <a:srgbClr val="0B1220">
                <a:alpha val="12000"/>
              </a:srgbClr>
            </a:outerShdw>
          </a:effectLst>
        </p:spPr>
      </p:sp>
      <p:sp>
        <p:nvSpPr>
          <p:cNvPr id="10" name="icon-circle"/>
          <p:cNvSpPr/>
          <p:nvPr/>
        </p:nvSpPr>
        <p:spPr>
          <a:xfrm>
            <a:off x="4572000" y="2011680"/>
            <a:ext cx="594360" cy="594360"/>
          </a:xfrm>
          <a:prstGeom prst="ellipse">
            <a:avLst/>
          </a:prstGeom>
          <a:solidFill>
            <a:schemeClr val="accent2"/>
          </a:solidFill>
          <a:ln/>
        </p:spPr>
      </p:sp>
      <p:pic>
        <p:nvPicPr>
          <p:cNvPr id="11" name="Image 1" descr="FaCopy">    </p:cNvPr>
          <p:cNvPicPr>
            <a:picLocks noChangeAspect="1"/>
          </p:cNvPicPr>
          <p:nvPr/>
        </p:nvPicPr>
        <p:blipFill>
          <a:blip r:embed="rId2"/>
          <a:stretch>
            <a:fillRect/>
          </a:stretch>
        </p:blipFill>
        <p:spPr>
          <a:xfrm>
            <a:off x="4726534" y="2166214"/>
            <a:ext cx="285293" cy="285293"/>
          </a:xfrm>
          <a:prstGeom prst="rect">
            <a:avLst/>
          </a:prstGeom>
        </p:spPr>
      </p:pic>
      <p:sp>
        <p:nvSpPr>
          <p:cNvPr id="12" name="Text 8"/>
          <p:cNvSpPr txBox="1"/>
          <p:nvPr/>
        </p:nvSpPr>
        <p:spPr>
          <a:xfrm>
            <a:off x="4572000" y="2743200"/>
            <a:ext cx="3017520" cy="320040"/>
          </a:xfrm>
          <a:prstGeom prst="rect">
            <a:avLst/>
          </a:prstGeom>
          <a:noFill/>
          <a:ln/>
        </p:spPr>
        <p:txBody>
          <a:bodyPr wrap="square" lIns="0" tIns="0" rIns="0" bIns="0" rtlCol="0" anchor="t"/>
          <a:lstStyle/>
          <a:p>
            <a:pPr indent="0" marL="0">
              <a:buNone/>
            </a:pPr>
            <a:r>
              <a:rPr lang="en-US" sz="2000" b="1" dirty="0">
                <a:solidFill>
                  <a:schemeClr val="tx1"/>
                </a:solidFill>
              </a:rPr>
              <a:t>Zero duplicates</a:t>
            </a:r>
            <a:endParaRPr lang="en-US" sz="2000" dirty="0"/>
          </a:p>
        </p:txBody>
      </p:sp>
      <p:sp>
        <p:nvSpPr>
          <p:cNvPr id="13" name="Text 9"/>
          <p:cNvSpPr txBox="1"/>
          <p:nvPr/>
        </p:nvSpPr>
        <p:spPr>
          <a:xfrm>
            <a:off x="4572000" y="31089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No repeat reservations, charges or orders (Idempotency-Key + UNIQUE)</a:t>
            </a:r>
            <a:endParaRPr lang="en-US" sz="1400" dirty="0"/>
          </a:p>
        </p:txBody>
      </p:sp>
      <p:sp>
        <p:nvSpPr>
          <p:cNvPr id="14" name="card"/>
          <p:cNvSpPr/>
          <p:nvPr/>
        </p:nvSpPr>
        <p:spPr>
          <a:xfrm>
            <a:off x="548640" y="4069080"/>
            <a:ext cx="3474720" cy="2011680"/>
          </a:xfrm>
          <a:prstGeom prst="roundRect">
            <a:avLst>
              <a:gd name="adj" fmla="val 5455"/>
            </a:avLst>
          </a:prstGeom>
          <a:solidFill>
            <a:schemeClr val="bg1"/>
          </a:solidFill>
          <a:ln/>
          <a:effectLst>
            <a:outerShdw sx="100000" sy="100000" kx="0" ky="0" algn="bl" rotWithShape="0" blurRad="101600" dist="25400" dir="5400000">
              <a:srgbClr val="0B1220">
                <a:alpha val="12000"/>
              </a:srgbClr>
            </a:outerShdw>
          </a:effectLst>
        </p:spPr>
      </p:sp>
      <p:sp>
        <p:nvSpPr>
          <p:cNvPr id="15" name="icon-circle"/>
          <p:cNvSpPr/>
          <p:nvPr/>
        </p:nvSpPr>
        <p:spPr>
          <a:xfrm>
            <a:off x="822960" y="4297680"/>
            <a:ext cx="594360" cy="594360"/>
          </a:xfrm>
          <a:prstGeom prst="ellipse">
            <a:avLst/>
          </a:prstGeom>
          <a:solidFill>
            <a:schemeClr val="accent2"/>
          </a:solidFill>
          <a:ln/>
        </p:spPr>
      </p:sp>
      <p:pic>
        <p:nvPicPr>
          <p:cNvPr id="16" name="Image 2" descr="FaCheckDouble">    </p:cNvPr>
          <p:cNvPicPr>
            <a:picLocks noChangeAspect="1"/>
          </p:cNvPicPr>
          <p:nvPr/>
        </p:nvPicPr>
        <p:blipFill>
          <a:blip r:embed="rId3"/>
          <a:stretch>
            <a:fillRect/>
          </a:stretch>
        </p:blipFill>
        <p:spPr>
          <a:xfrm>
            <a:off x="977494" y="4452214"/>
            <a:ext cx="285293" cy="285293"/>
          </a:xfrm>
          <a:prstGeom prst="rect">
            <a:avLst/>
          </a:prstGeom>
        </p:spPr>
      </p:pic>
      <p:sp>
        <p:nvSpPr>
          <p:cNvPr id="17" name="Text 12"/>
          <p:cNvSpPr txBox="1"/>
          <p:nvPr/>
        </p:nvSpPr>
        <p:spPr>
          <a:xfrm>
            <a:off x="822960" y="5029200"/>
            <a:ext cx="3017520" cy="320040"/>
          </a:xfrm>
          <a:prstGeom prst="rect">
            <a:avLst/>
          </a:prstGeom>
          <a:noFill/>
          <a:ln/>
        </p:spPr>
        <p:txBody>
          <a:bodyPr wrap="square" lIns="0" tIns="0" rIns="0" bIns="0" rtlCol="0" anchor="t"/>
          <a:lstStyle/>
          <a:p>
            <a:pPr indent="0" marL="0">
              <a:buNone/>
            </a:pPr>
            <a:r>
              <a:rPr lang="en-US" sz="2000" b="1" dirty="0">
                <a:solidFill>
                  <a:schemeClr val="tx1"/>
                </a:solidFill>
              </a:rPr>
              <a:t>Zero lost paid orders</a:t>
            </a:r>
            <a:endParaRPr lang="en-US" sz="2000" dirty="0"/>
          </a:p>
        </p:txBody>
      </p:sp>
      <p:sp>
        <p:nvSpPr>
          <p:cNvPr id="18" name="Text 13"/>
          <p:cNvSpPr txBox="1"/>
          <p:nvPr/>
        </p:nvSpPr>
        <p:spPr>
          <a:xfrm>
            <a:off x="822960" y="53949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Every settled payment ends in a CONFIRMED order or a refund (RPO = 0)</a:t>
            </a:r>
            <a:endParaRPr lang="en-US" sz="1400" dirty="0"/>
          </a:p>
        </p:txBody>
      </p:sp>
      <p:sp>
        <p:nvSpPr>
          <p:cNvPr id="19" name="card"/>
          <p:cNvSpPr/>
          <p:nvPr/>
        </p:nvSpPr>
        <p:spPr>
          <a:xfrm>
            <a:off x="4297680" y="4069080"/>
            <a:ext cx="3474720" cy="2011680"/>
          </a:xfrm>
          <a:prstGeom prst="roundRect">
            <a:avLst>
              <a:gd name="adj" fmla="val 5455"/>
            </a:avLst>
          </a:prstGeom>
          <a:solidFill>
            <a:schemeClr val="bg1"/>
          </a:solidFill>
          <a:ln/>
          <a:effectLst>
            <a:outerShdw sx="100000" sy="100000" kx="0" ky="0" algn="bl" rotWithShape="0" blurRad="101600" dist="25400" dir="5400000">
              <a:srgbClr val="0B1220">
                <a:alpha val="12000"/>
              </a:srgbClr>
            </a:outerShdw>
          </a:effectLst>
        </p:spPr>
      </p:sp>
      <p:sp>
        <p:nvSpPr>
          <p:cNvPr id="20" name="icon-circle"/>
          <p:cNvSpPr/>
          <p:nvPr/>
        </p:nvSpPr>
        <p:spPr>
          <a:xfrm>
            <a:off x="4572000" y="4297680"/>
            <a:ext cx="594360" cy="594360"/>
          </a:xfrm>
          <a:prstGeom prst="ellipse">
            <a:avLst/>
          </a:prstGeom>
          <a:solidFill>
            <a:schemeClr val="accent5"/>
          </a:solidFill>
          <a:ln/>
        </p:spPr>
      </p:sp>
      <p:pic>
        <p:nvPicPr>
          <p:cNvPr id="21" name="Image 3" descr="FaLock">    </p:cNvPr>
          <p:cNvPicPr>
            <a:picLocks noChangeAspect="1"/>
          </p:cNvPicPr>
          <p:nvPr/>
        </p:nvPicPr>
        <p:blipFill>
          <a:blip r:embed="rId4"/>
          <a:stretch>
            <a:fillRect/>
          </a:stretch>
        </p:blipFill>
        <p:spPr>
          <a:xfrm>
            <a:off x="4726534" y="4452214"/>
            <a:ext cx="285293" cy="285293"/>
          </a:xfrm>
          <a:prstGeom prst="rect">
            <a:avLst/>
          </a:prstGeom>
        </p:spPr>
      </p:pic>
      <p:sp>
        <p:nvSpPr>
          <p:cNvPr id="22" name="Text 16"/>
          <p:cNvSpPr txBox="1"/>
          <p:nvPr/>
        </p:nvSpPr>
        <p:spPr>
          <a:xfrm>
            <a:off x="4572000" y="5029200"/>
            <a:ext cx="3017520" cy="320040"/>
          </a:xfrm>
          <a:prstGeom prst="rect">
            <a:avLst/>
          </a:prstGeom>
          <a:noFill/>
          <a:ln/>
        </p:spPr>
        <p:txBody>
          <a:bodyPr wrap="square" lIns="0" tIns="0" rIns="0" bIns="0" rtlCol="0" anchor="t"/>
          <a:lstStyle/>
          <a:p>
            <a:pPr indent="0" marL="0">
              <a:buNone/>
            </a:pPr>
            <a:r>
              <a:rPr lang="en-US" sz="2000" b="1" dirty="0">
                <a:solidFill>
                  <a:schemeClr val="tx1"/>
                </a:solidFill>
              </a:rPr>
              <a:t>Zero raw card data</a:t>
            </a:r>
            <a:endParaRPr lang="en-US" sz="2000" dirty="0"/>
          </a:p>
        </p:txBody>
      </p:sp>
      <p:sp>
        <p:nvSpPr>
          <p:cNvPr id="23" name="Text 17"/>
          <p:cNvSpPr txBox="1"/>
          <p:nvPr/>
        </p:nvSpPr>
        <p:spPr>
          <a:xfrm>
            <a:off x="4572000" y="5394960"/>
            <a:ext cx="3017520" cy="594360"/>
          </a:xfrm>
          <a:prstGeom prst="rect">
            <a:avLst/>
          </a:prstGeom>
          <a:noFill/>
          <a:ln/>
        </p:spPr>
        <p:txBody>
          <a:bodyPr wrap="square" lIns="0" tIns="0" rIns="0" bIns="0" rtlCol="0" anchor="t"/>
          <a:lstStyle/>
          <a:p>
            <a:pPr indent="0" marL="0">
              <a:buNone/>
            </a:pPr>
            <a:r>
              <a:rPr lang="en-US" sz="1400" dirty="0">
                <a:solidFill>
                  <a:schemeClr val="accent6"/>
                </a:solidFill>
              </a:rPr>
              <a:t>Only gateway tokens reach our servers (PCI-DSS SAQ-A)</a:t>
            </a:r>
            <a:endParaRPr lang="en-US" sz="1400" dirty="0"/>
          </a:p>
        </p:txBody>
      </p:sp>
      <p:sp>
        <p:nvSpPr>
          <p:cNvPr id="24" name="targets-panel"/>
          <p:cNvSpPr/>
          <p:nvPr/>
        </p:nvSpPr>
        <p:spPr>
          <a:xfrm>
            <a:off x="8046720" y="1783080"/>
            <a:ext cx="3593592" cy="4297680"/>
          </a:xfrm>
          <a:prstGeom prst="roundRect">
            <a:avLst>
              <a:gd name="adj" fmla="val 3053"/>
            </a:avLst>
          </a:prstGeom>
          <a:solidFill>
            <a:schemeClr val="tx2"/>
          </a:solidFill>
          <a:ln/>
        </p:spPr>
      </p:sp>
      <p:sp>
        <p:nvSpPr>
          <p:cNvPr id="25" name="Text 19"/>
          <p:cNvSpPr txBox="1"/>
          <p:nvPr/>
        </p:nvSpPr>
        <p:spPr>
          <a:xfrm>
            <a:off x="8321040" y="1965960"/>
            <a:ext cx="30175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TARGETS</a:t>
            </a:r>
            <a:endParaRPr lang="en-US" sz="1200" dirty="0"/>
          </a:p>
        </p:txBody>
      </p:sp>
      <p:sp>
        <p:nvSpPr>
          <p:cNvPr id="26" name="Text 20"/>
          <p:cNvSpPr txBox="1"/>
          <p:nvPr/>
        </p:nvSpPr>
        <p:spPr>
          <a:xfrm>
            <a:off x="8321040" y="2331720"/>
            <a:ext cx="3108960" cy="685800"/>
          </a:xfrm>
          <a:prstGeom prst="rect">
            <a:avLst/>
          </a:prstGeom>
          <a:noFill/>
          <a:ln/>
        </p:spPr>
        <p:txBody>
          <a:bodyPr wrap="square" lIns="0" tIns="0" rIns="0" bIns="0" rtlCol="0" anchor="t"/>
          <a:lstStyle/>
          <a:p>
            <a:pPr indent="0" marL="0">
              <a:buNone/>
            </a:pPr>
            <a:r>
              <a:rPr lang="en-US" sz="4400" b="1" dirty="0">
                <a:solidFill>
                  <a:schemeClr val="accent1"/>
                </a:solidFill>
              </a:rPr>
              <a:t>10,000</a:t>
            </a:r>
            <a:endParaRPr lang="en-US" sz="4400" dirty="0"/>
          </a:p>
        </p:txBody>
      </p:sp>
      <p:sp>
        <p:nvSpPr>
          <p:cNvPr id="27" name="Text 21"/>
          <p:cNvSpPr txBox="1"/>
          <p:nvPr/>
        </p:nvSpPr>
        <p:spPr>
          <a:xfrm>
            <a:off x="8321040" y="3017520"/>
            <a:ext cx="3108960" cy="502920"/>
          </a:xfrm>
          <a:prstGeom prst="rect">
            <a:avLst/>
          </a:prstGeom>
          <a:noFill/>
          <a:ln/>
        </p:spPr>
        <p:txBody>
          <a:bodyPr wrap="square" lIns="0" tIns="0" rIns="0" bIns="0" rtlCol="0" anchor="t"/>
          <a:lstStyle/>
          <a:p>
            <a:pPr indent="0" marL="0">
              <a:buNone/>
            </a:pPr>
            <a:r>
              <a:rPr lang="en-US" sz="1400" dirty="0">
                <a:solidFill>
                  <a:schemeClr val="bg1"/>
                </a:solidFill>
              </a:rPr>
              <a:t>req/s baseline: p95 &lt;= 80 ms, p99 &lt;= 150 ms</a:t>
            </a:r>
            <a:endParaRPr lang="en-US" sz="1400" dirty="0"/>
          </a:p>
        </p:txBody>
      </p:sp>
      <p:sp>
        <p:nvSpPr>
          <p:cNvPr id="28" name="Text 22"/>
          <p:cNvSpPr txBox="1"/>
          <p:nvPr/>
        </p:nvSpPr>
        <p:spPr>
          <a:xfrm>
            <a:off x="8321040" y="3657600"/>
            <a:ext cx="3108960" cy="685800"/>
          </a:xfrm>
          <a:prstGeom prst="rect">
            <a:avLst/>
          </a:prstGeom>
          <a:noFill/>
          <a:ln/>
        </p:spPr>
        <p:txBody>
          <a:bodyPr wrap="square" lIns="0" tIns="0" rIns="0" bIns="0" rtlCol="0" anchor="t"/>
          <a:lstStyle/>
          <a:p>
            <a:pPr indent="0" marL="0">
              <a:buNone/>
            </a:pPr>
            <a:r>
              <a:rPr lang="en-US" sz="4400" b="1" dirty="0">
                <a:solidFill>
                  <a:schemeClr val="accent1"/>
                </a:solidFill>
              </a:rPr>
              <a:t>500,000</a:t>
            </a:r>
            <a:endParaRPr lang="en-US" sz="4400" dirty="0"/>
          </a:p>
        </p:txBody>
      </p:sp>
      <p:sp>
        <p:nvSpPr>
          <p:cNvPr id="29" name="Text 23"/>
          <p:cNvSpPr txBox="1"/>
          <p:nvPr/>
        </p:nvSpPr>
        <p:spPr>
          <a:xfrm>
            <a:off x="8321040" y="4343400"/>
            <a:ext cx="3108960" cy="502920"/>
          </a:xfrm>
          <a:prstGeom prst="rect">
            <a:avLst/>
          </a:prstGeom>
          <a:noFill/>
          <a:ln/>
        </p:spPr>
        <p:txBody>
          <a:bodyPr wrap="square" lIns="0" tIns="0" rIns="0" bIns="0" rtlCol="0" anchor="t"/>
          <a:lstStyle/>
          <a:p>
            <a:pPr indent="0" marL="0">
              <a:buNone/>
            </a:pPr>
            <a:r>
              <a:rPr lang="en-US" sz="1400" dirty="0">
                <a:solidFill>
                  <a:schemeClr val="bg1"/>
                </a:solidFill>
              </a:rPr>
              <a:t>req/s at 50x: fast-path p99 &lt;= 250 ms</a:t>
            </a:r>
            <a:endParaRPr lang="en-US" sz="1400" dirty="0"/>
          </a:p>
        </p:txBody>
      </p:sp>
      <p:sp>
        <p:nvSpPr>
          <p:cNvPr id="30" name="Text 24"/>
          <p:cNvSpPr txBox="1"/>
          <p:nvPr/>
        </p:nvSpPr>
        <p:spPr>
          <a:xfrm>
            <a:off x="8321040" y="5029200"/>
            <a:ext cx="3108960" cy="868680"/>
          </a:xfrm>
          <a:prstGeom prst="rect">
            <a:avLst/>
          </a:prstGeom>
          <a:noFill/>
          <a:ln/>
        </p:spPr>
        <p:txBody>
          <a:bodyPr wrap="square" lIns="0" tIns="0" rIns="0" bIns="0" rtlCol="0" anchor="t"/>
          <a:lstStyle/>
          <a:p>
            <a:pPr indent="0" marL="0">
              <a:buNone/>
            </a:pPr>
            <a:r>
              <a:rPr lang="en-US" sz="1400" b="1" dirty="0">
                <a:solidFill>
                  <a:schemeClr val="bg1"/>
                </a:solidFill>
              </a:rPr>
              <a:t>Fault injection: </a:t>
            </a:r>
            <a:pPr indent="0" marL="0">
              <a:buNone/>
            </a:pPr>
            <a:r>
              <a:rPr lang="en-US" sz="1400" dirty="0">
                <a:solidFill>
                  <a:schemeClr val="bg1"/>
                </a:solidFill>
              </a:rPr>
              <a:t>2% duplicate retries, 5% declined payments, 30 s Order Service outage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A four-stage funnel absorbs the surge</a:t>
            </a:r>
            <a:endParaRPr lang="en-US" sz="3400" dirty="0"/>
          </a:p>
        </p:txBody>
      </p:sp>
      <p:sp>
        <p:nvSpPr>
          <p:cNvPr id="3" name="card"/>
          <p:cNvSpPr/>
          <p:nvPr/>
        </p:nvSpPr>
        <p:spPr>
          <a:xfrm>
            <a:off x="548640" y="1508760"/>
            <a:ext cx="2432304" cy="4023360"/>
          </a:xfrm>
          <a:prstGeom prst="roundRect">
            <a:avLst>
              <a:gd name="adj" fmla="val 4511"/>
            </a:avLst>
          </a:prstGeom>
          <a:solidFill>
            <a:schemeClr val="bg1"/>
          </a:solidFill>
          <a:ln/>
          <a:effectLst>
            <a:outerShdw sx="100000" sy="100000" kx="0" ky="0" algn="bl" rotWithShape="0" blurRad="101600" dist="25400" dir="5400000">
              <a:srgbClr val="0B1220">
                <a:alpha val="12000"/>
              </a:srgbClr>
            </a:outerShdw>
          </a:effectLst>
        </p:spPr>
      </p:sp>
      <p:sp>
        <p:nvSpPr>
          <p:cNvPr id="4" name="stage-num"/>
          <p:cNvSpPr/>
          <p:nvPr/>
        </p:nvSpPr>
        <p:spPr>
          <a:xfrm>
            <a:off x="777240" y="1737360"/>
            <a:ext cx="457200" cy="457200"/>
          </a:xfrm>
          <a:prstGeom prst="ellipse">
            <a:avLst/>
          </a:prstGeom>
          <a:solidFill>
            <a:schemeClr val="accent1"/>
          </a:solidFill>
          <a:ln/>
        </p:spPr>
      </p:sp>
      <p:sp>
        <p:nvSpPr>
          <p:cNvPr id="5" name="Text 3"/>
          <p:cNvSpPr txBox="1"/>
          <p:nvPr/>
        </p:nvSpPr>
        <p:spPr>
          <a:xfrm>
            <a:off x="777240" y="17373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371600" y="1709928"/>
            <a:ext cx="1463040" cy="548640"/>
          </a:xfrm>
          <a:prstGeom prst="rect">
            <a:avLst/>
          </a:prstGeom>
          <a:noFill/>
          <a:ln/>
        </p:spPr>
        <p:txBody>
          <a:bodyPr wrap="square" lIns="0" tIns="0" rIns="0" bIns="0" rtlCol="0" anchor="ctr"/>
          <a:lstStyle/>
          <a:p>
            <a:pPr indent="0" marL="0">
              <a:buNone/>
            </a:pPr>
            <a:r>
              <a:rPr lang="en-US" sz="1600" b="1" dirty="0">
                <a:solidFill>
                  <a:schemeClr val="tx1"/>
                </a:solidFill>
              </a:rPr>
              <a:t>Edge and admission</a:t>
            </a:r>
            <a:endParaRPr lang="en-US" sz="1600" dirty="0"/>
          </a:p>
        </p:txBody>
      </p:sp>
      <p:sp>
        <p:nvSpPr>
          <p:cNvPr id="7" name="Text 5"/>
          <p:cNvSpPr txBox="1"/>
          <p:nvPr/>
        </p:nvSpPr>
        <p:spPr>
          <a:xfrm>
            <a:off x="777240" y="2423160"/>
            <a:ext cx="2011680" cy="548640"/>
          </a:xfrm>
          <a:prstGeom prst="rect">
            <a:avLst/>
          </a:prstGeom>
          <a:noFill/>
          <a:ln/>
        </p:spPr>
        <p:txBody>
          <a:bodyPr wrap="square" lIns="0" tIns="0" rIns="0" bIns="0" rtlCol="0" anchor="t"/>
          <a:lstStyle/>
          <a:p>
            <a:pPr indent="0" marL="0">
              <a:buNone/>
            </a:pPr>
            <a:r>
              <a:rPr lang="en-US" sz="3000" b="1" dirty="0">
                <a:solidFill>
                  <a:schemeClr val="accent2"/>
                </a:solidFill>
              </a:rPr>
              <a:t>500k → 20k</a:t>
            </a:r>
            <a:endParaRPr lang="en-US" sz="3000" dirty="0"/>
          </a:p>
        </p:txBody>
      </p:sp>
      <p:sp>
        <p:nvSpPr>
          <p:cNvPr id="8" name="Text 6"/>
          <p:cNvSpPr txBox="1"/>
          <p:nvPr/>
        </p:nvSpPr>
        <p:spPr>
          <a:xfrm>
            <a:off x="777240" y="3017520"/>
            <a:ext cx="2011680" cy="548640"/>
          </a:xfrm>
          <a:prstGeom prst="rect">
            <a:avLst/>
          </a:prstGeom>
          <a:noFill/>
          <a:ln/>
        </p:spPr>
        <p:txBody>
          <a:bodyPr wrap="square" lIns="0" tIns="0" rIns="0" bIns="0" rtlCol="0" anchor="t"/>
          <a:lstStyle/>
          <a:p>
            <a:pPr indent="0" marL="0">
              <a:buNone/>
            </a:pPr>
            <a:r>
              <a:rPr lang="en-US" sz="1400" dirty="0">
                <a:solidFill>
                  <a:schemeClr val="accent6"/>
                </a:solidFill>
              </a:rPr>
              <a:t>req/s in, steady checkout stream out</a:t>
            </a:r>
            <a:endParaRPr lang="en-US" sz="1400" dirty="0"/>
          </a:p>
        </p:txBody>
      </p:sp>
      <p:sp>
        <p:nvSpPr>
          <p:cNvPr id="9" name="Text 7"/>
          <p:cNvSpPr txBox="1"/>
          <p:nvPr/>
        </p:nvSpPr>
        <p:spPr>
          <a:xfrm>
            <a:off x="777240" y="3703320"/>
            <a:ext cx="201168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Cloudflare CDN</a:t>
            </a:r>
            <a:endParaRPr lang="en-US" sz="1400" dirty="0"/>
          </a:p>
          <a:p>
            <a:pPr marL="342900" indent="-342900">
              <a:spcAft>
                <a:spcPts val="400"/>
              </a:spcAft>
              <a:buSzPct val="100000"/>
              <a:buChar char="•"/>
            </a:pPr>
            <a:r>
              <a:rPr lang="en-US" sz="1400" dirty="0">
                <a:solidFill>
                  <a:schemeClr val="tx1"/>
                </a:solidFill>
              </a:rPr>
              <a:t>Waiting room (token bucket)</a:t>
            </a:r>
            <a:endParaRPr lang="en-US" sz="1400" dirty="0"/>
          </a:p>
          <a:p>
            <a:pPr marL="342900" indent="-342900">
              <a:spcAft>
                <a:spcPts val="400"/>
              </a:spcAft>
              <a:buSzPct val="100000"/>
              <a:buChar char="•"/>
            </a:pPr>
            <a:r>
              <a:rPr lang="en-US" sz="1400" dirty="0">
                <a:solidFill>
                  <a:schemeClr val="tx1"/>
                </a:solidFill>
              </a:rPr>
              <a:t>API Gateway: JWT, rate limit</a:t>
            </a:r>
            <a:endParaRPr lang="en-US" sz="1400" dirty="0"/>
          </a:p>
        </p:txBody>
      </p:sp>
      <p:sp>
        <p:nvSpPr>
          <p:cNvPr id="10" name="flow-arrow"/>
          <p:cNvSpPr/>
          <p:nvPr/>
        </p:nvSpPr>
        <p:spPr>
          <a:xfrm>
            <a:off x="3054096" y="3337560"/>
            <a:ext cx="310896" cy="365760"/>
          </a:xfrm>
          <a:prstGeom prst="rightArrow">
            <a:avLst/>
          </a:prstGeom>
          <a:solidFill>
            <a:schemeClr val="accent6"/>
          </a:solidFill>
          <a:ln/>
        </p:spPr>
      </p:sp>
      <p:sp>
        <p:nvSpPr>
          <p:cNvPr id="11" name="card"/>
          <p:cNvSpPr/>
          <p:nvPr/>
        </p:nvSpPr>
        <p:spPr>
          <a:xfrm>
            <a:off x="3438144" y="1508760"/>
            <a:ext cx="2432304" cy="4023360"/>
          </a:xfrm>
          <a:prstGeom prst="roundRect">
            <a:avLst>
              <a:gd name="adj" fmla="val 4511"/>
            </a:avLst>
          </a:prstGeom>
          <a:solidFill>
            <a:schemeClr val="bg1"/>
          </a:solidFill>
          <a:ln/>
          <a:effectLst>
            <a:outerShdw sx="100000" sy="100000" kx="0" ky="0" algn="bl" rotWithShape="0" blurRad="101600" dist="25400" dir="5400000">
              <a:srgbClr val="0B1220">
                <a:alpha val="12000"/>
              </a:srgbClr>
            </a:outerShdw>
          </a:effectLst>
        </p:spPr>
      </p:sp>
      <p:sp>
        <p:nvSpPr>
          <p:cNvPr id="12" name="stage-num"/>
          <p:cNvSpPr/>
          <p:nvPr/>
        </p:nvSpPr>
        <p:spPr>
          <a:xfrm>
            <a:off x="3666744" y="1737360"/>
            <a:ext cx="457200" cy="457200"/>
          </a:xfrm>
          <a:prstGeom prst="ellipse">
            <a:avLst/>
          </a:prstGeom>
          <a:solidFill>
            <a:schemeClr val="accent1"/>
          </a:solidFill>
          <a:ln/>
        </p:spPr>
      </p:sp>
      <p:sp>
        <p:nvSpPr>
          <p:cNvPr id="13" name="Text 11"/>
          <p:cNvSpPr txBox="1"/>
          <p:nvPr/>
        </p:nvSpPr>
        <p:spPr>
          <a:xfrm>
            <a:off x="3666744" y="17373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4" name="Text 12"/>
          <p:cNvSpPr txBox="1"/>
          <p:nvPr/>
        </p:nvSpPr>
        <p:spPr>
          <a:xfrm>
            <a:off x="4261104" y="1709928"/>
            <a:ext cx="1463040" cy="548640"/>
          </a:xfrm>
          <a:prstGeom prst="rect">
            <a:avLst/>
          </a:prstGeom>
          <a:noFill/>
          <a:ln/>
        </p:spPr>
        <p:txBody>
          <a:bodyPr wrap="square" lIns="0" tIns="0" rIns="0" bIns="0" rtlCol="0" anchor="ctr"/>
          <a:lstStyle/>
          <a:p>
            <a:pPr indent="0" marL="0">
              <a:buNone/>
            </a:pPr>
            <a:r>
              <a:rPr lang="en-US" sz="1600" b="1" dirty="0">
                <a:solidFill>
                  <a:schemeClr val="tx1"/>
                </a:solidFill>
              </a:rPr>
              <a:t>Redis Lua gate</a:t>
            </a:r>
            <a:endParaRPr lang="en-US" sz="1600" dirty="0"/>
          </a:p>
        </p:txBody>
      </p:sp>
      <p:sp>
        <p:nvSpPr>
          <p:cNvPr id="15" name="Text 13"/>
          <p:cNvSpPr txBox="1"/>
          <p:nvPr/>
        </p:nvSpPr>
        <p:spPr>
          <a:xfrm>
            <a:off x="3666744" y="2423160"/>
            <a:ext cx="2011680" cy="548640"/>
          </a:xfrm>
          <a:prstGeom prst="rect">
            <a:avLst/>
          </a:prstGeom>
          <a:noFill/>
          <a:ln/>
        </p:spPr>
        <p:txBody>
          <a:bodyPr wrap="square" lIns="0" tIns="0" rIns="0" bIns="0" rtlCol="0" anchor="t"/>
          <a:lstStyle/>
          <a:p>
            <a:pPr indent="0" marL="0">
              <a:buNone/>
            </a:pPr>
            <a:r>
              <a:rPr lang="en-US" sz="3000" b="1" dirty="0">
                <a:solidFill>
                  <a:schemeClr val="accent2"/>
                </a:solidFill>
              </a:rPr>
              <a:t>9,900</a:t>
            </a:r>
            <a:endParaRPr lang="en-US" sz="3000" dirty="0"/>
          </a:p>
        </p:txBody>
      </p:sp>
      <p:sp>
        <p:nvSpPr>
          <p:cNvPr id="16" name="Text 14"/>
          <p:cNvSpPr txBox="1"/>
          <p:nvPr/>
        </p:nvSpPr>
        <p:spPr>
          <a:xfrm>
            <a:off x="3666744" y="3017520"/>
            <a:ext cx="2011680" cy="548640"/>
          </a:xfrm>
          <a:prstGeom prst="rect">
            <a:avLst/>
          </a:prstGeom>
          <a:noFill/>
          <a:ln/>
        </p:spPr>
        <p:txBody>
          <a:bodyPr wrap="square" lIns="0" tIns="0" rIns="0" bIns="0" rtlCol="0" anchor="t"/>
          <a:lstStyle/>
          <a:p>
            <a:pPr indent="0" marL="0">
              <a:buNone/>
            </a:pPr>
            <a:r>
              <a:rPr lang="en-US" sz="1400" dirty="0">
                <a:solidFill>
                  <a:schemeClr val="accent6"/>
                </a:solidFill>
              </a:rPr>
              <a:t>of 10,000 rejected in RAM, &lt; 0.1 ms</a:t>
            </a:r>
            <a:endParaRPr lang="en-US" sz="1400" dirty="0"/>
          </a:p>
        </p:txBody>
      </p:sp>
      <p:sp>
        <p:nvSpPr>
          <p:cNvPr id="17" name="Text 15"/>
          <p:cNvSpPr txBox="1"/>
          <p:nvPr/>
        </p:nvSpPr>
        <p:spPr>
          <a:xfrm>
            <a:off x="3666744" y="3703320"/>
            <a:ext cx="201168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Redis Cluster 7</a:t>
            </a:r>
            <a:endParaRPr lang="en-US" sz="1400" dirty="0"/>
          </a:p>
          <a:p>
            <a:pPr marL="342900" indent="-342900">
              <a:spcAft>
                <a:spcPts val="400"/>
              </a:spcAft>
              <a:buSzPct val="100000"/>
              <a:buChar char="•"/>
            </a:pPr>
            <a:r>
              <a:rPr lang="en-US" sz="1400" dirty="0">
                <a:solidFill>
                  <a:schemeClr val="tx1"/>
                </a:solidFill>
              </a:rPr>
              <a:t>Atomic Lua script</a:t>
            </a:r>
            <a:endParaRPr lang="en-US" sz="1400" dirty="0"/>
          </a:p>
          <a:p>
            <a:pPr marL="342900" indent="-342900">
              <a:spcAft>
                <a:spcPts val="400"/>
              </a:spcAft>
              <a:buSzPct val="100000"/>
              <a:buChar char="•"/>
            </a:pPr>
            <a:r>
              <a:rPr lang="en-US" sz="1400" dirty="0">
                <a:solidFill>
                  <a:schemeClr val="tx1"/>
                </a:solidFill>
              </a:rPr>
              <a:t>409 SOLD_OUT fast path</a:t>
            </a:r>
            <a:endParaRPr lang="en-US" sz="1400" dirty="0"/>
          </a:p>
        </p:txBody>
      </p:sp>
      <p:sp>
        <p:nvSpPr>
          <p:cNvPr id="18" name="flow-arrow"/>
          <p:cNvSpPr/>
          <p:nvPr/>
        </p:nvSpPr>
        <p:spPr>
          <a:xfrm>
            <a:off x="5943600" y="3337560"/>
            <a:ext cx="310896" cy="365760"/>
          </a:xfrm>
          <a:prstGeom prst="rightArrow">
            <a:avLst/>
          </a:prstGeom>
          <a:solidFill>
            <a:schemeClr val="accent6"/>
          </a:solidFill>
          <a:ln/>
        </p:spPr>
      </p:sp>
      <p:sp>
        <p:nvSpPr>
          <p:cNvPr id="19" name="card"/>
          <p:cNvSpPr/>
          <p:nvPr/>
        </p:nvSpPr>
        <p:spPr>
          <a:xfrm>
            <a:off x="6327648" y="1508760"/>
            <a:ext cx="2432304" cy="4023360"/>
          </a:xfrm>
          <a:prstGeom prst="roundRect">
            <a:avLst>
              <a:gd name="adj" fmla="val 4511"/>
            </a:avLst>
          </a:prstGeom>
          <a:solidFill>
            <a:schemeClr val="bg1"/>
          </a:solidFill>
          <a:ln/>
          <a:effectLst>
            <a:outerShdw sx="100000" sy="100000" kx="0" ky="0" algn="bl" rotWithShape="0" blurRad="101600" dist="25400" dir="5400000">
              <a:srgbClr val="0B1220">
                <a:alpha val="12000"/>
              </a:srgbClr>
            </a:outerShdw>
          </a:effectLst>
        </p:spPr>
      </p:sp>
      <p:sp>
        <p:nvSpPr>
          <p:cNvPr id="20" name="stage-num"/>
          <p:cNvSpPr/>
          <p:nvPr/>
        </p:nvSpPr>
        <p:spPr>
          <a:xfrm>
            <a:off x="6556248" y="1737360"/>
            <a:ext cx="457200" cy="457200"/>
          </a:xfrm>
          <a:prstGeom prst="ellipse">
            <a:avLst/>
          </a:prstGeom>
          <a:solidFill>
            <a:schemeClr val="accent1"/>
          </a:solidFill>
          <a:ln/>
        </p:spPr>
      </p:sp>
      <p:sp>
        <p:nvSpPr>
          <p:cNvPr id="21" name="Text 19"/>
          <p:cNvSpPr txBox="1"/>
          <p:nvPr/>
        </p:nvSpPr>
        <p:spPr>
          <a:xfrm>
            <a:off x="6556248" y="17373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2" name="Text 20"/>
          <p:cNvSpPr txBox="1"/>
          <p:nvPr/>
        </p:nvSpPr>
        <p:spPr>
          <a:xfrm>
            <a:off x="7150608" y="1709928"/>
            <a:ext cx="1463040" cy="548640"/>
          </a:xfrm>
          <a:prstGeom prst="rect">
            <a:avLst/>
          </a:prstGeom>
          <a:noFill/>
          <a:ln/>
        </p:spPr>
        <p:txBody>
          <a:bodyPr wrap="square" lIns="0" tIns="0" rIns="0" bIns="0" rtlCol="0" anchor="ctr"/>
          <a:lstStyle/>
          <a:p>
            <a:pPr indent="0" marL="0">
              <a:buNone/>
            </a:pPr>
            <a:r>
              <a:rPr lang="en-US" sz="1600" b="1" dirty="0">
                <a:solidFill>
                  <a:schemeClr val="tx1"/>
                </a:solidFill>
              </a:rPr>
              <a:t>PostgreSQL ledger</a:t>
            </a:r>
            <a:endParaRPr lang="en-US" sz="1600" dirty="0"/>
          </a:p>
        </p:txBody>
      </p:sp>
      <p:sp>
        <p:nvSpPr>
          <p:cNvPr id="23" name="Text 21"/>
          <p:cNvSpPr txBox="1"/>
          <p:nvPr/>
        </p:nvSpPr>
        <p:spPr>
          <a:xfrm>
            <a:off x="6556248" y="2423160"/>
            <a:ext cx="2011680" cy="548640"/>
          </a:xfrm>
          <a:prstGeom prst="rect">
            <a:avLst/>
          </a:prstGeom>
          <a:noFill/>
          <a:ln/>
        </p:spPr>
        <p:txBody>
          <a:bodyPr wrap="square" lIns="0" tIns="0" rIns="0" bIns="0" rtlCol="0" anchor="t"/>
          <a:lstStyle/>
          <a:p>
            <a:pPr indent="0" marL="0">
              <a:buNone/>
            </a:pPr>
            <a:r>
              <a:rPr lang="en-US" sz="3000" b="1" dirty="0">
                <a:solidFill>
                  <a:schemeClr val="accent2"/>
                </a:solidFill>
              </a:rPr>
              <a:t>100</a:t>
            </a:r>
            <a:endParaRPr lang="en-US" sz="3000" dirty="0"/>
          </a:p>
        </p:txBody>
      </p:sp>
      <p:sp>
        <p:nvSpPr>
          <p:cNvPr id="24" name="Text 22"/>
          <p:cNvSpPr txBox="1"/>
          <p:nvPr/>
        </p:nvSpPr>
        <p:spPr>
          <a:xfrm>
            <a:off x="6556248" y="3017520"/>
            <a:ext cx="2011680" cy="548640"/>
          </a:xfrm>
          <a:prstGeom prst="rect">
            <a:avLst/>
          </a:prstGeom>
          <a:noFill/>
          <a:ln/>
        </p:spPr>
        <p:txBody>
          <a:bodyPr wrap="square" lIns="0" tIns="0" rIns="0" bIns="0" rtlCol="0" anchor="t"/>
          <a:lstStyle/>
          <a:p>
            <a:pPr indent="0" marL="0">
              <a:buNone/>
            </a:pPr>
            <a:r>
              <a:rPr lang="en-US" sz="1400" dirty="0">
                <a:solidFill>
                  <a:schemeClr val="accent6"/>
                </a:solidFill>
              </a:rPr>
              <a:t>winners reach the database</a:t>
            </a:r>
            <a:endParaRPr lang="en-US" sz="1400" dirty="0"/>
          </a:p>
        </p:txBody>
      </p:sp>
      <p:sp>
        <p:nvSpPr>
          <p:cNvPr id="25" name="Text 23"/>
          <p:cNvSpPr txBox="1"/>
          <p:nvPr/>
        </p:nvSpPr>
        <p:spPr>
          <a:xfrm>
            <a:off x="6556248" y="3703320"/>
            <a:ext cx="201168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PostgreSQL 16 + sync standby</a:t>
            </a:r>
            <a:endParaRPr lang="en-US" sz="1400" dirty="0"/>
          </a:p>
          <a:p>
            <a:pPr marL="342900" indent="-342900">
              <a:spcAft>
                <a:spcPts val="400"/>
              </a:spcAft>
              <a:buSzPct val="100000"/>
              <a:buChar char="•"/>
            </a:pPr>
            <a:r>
              <a:rPr lang="en-US" sz="1400" dirty="0">
                <a:solidFill>
                  <a:schemeClr val="tx1"/>
                </a:solidFill>
              </a:rPr>
              <a:t>PgBouncer, 3 read replicas</a:t>
            </a:r>
            <a:endParaRPr lang="en-US" sz="1400" dirty="0"/>
          </a:p>
          <a:p>
            <a:pPr marL="342900" indent="-342900">
              <a:spcAft>
                <a:spcPts val="400"/>
              </a:spcAft>
              <a:buSzPct val="100000"/>
              <a:buChar char="•"/>
            </a:pPr>
            <a:r>
              <a:rPr lang="en-US" sz="1400" dirty="0">
                <a:solidFill>
                  <a:schemeClr val="tx1"/>
                </a:solidFill>
              </a:rPr>
              <a:t>Conditional UPDATE</a:t>
            </a:r>
            <a:endParaRPr lang="en-US" sz="1400" dirty="0"/>
          </a:p>
        </p:txBody>
      </p:sp>
      <p:sp>
        <p:nvSpPr>
          <p:cNvPr id="26" name="flow-arrow"/>
          <p:cNvSpPr/>
          <p:nvPr/>
        </p:nvSpPr>
        <p:spPr>
          <a:xfrm>
            <a:off x="8833104" y="3337560"/>
            <a:ext cx="310896" cy="365760"/>
          </a:xfrm>
          <a:prstGeom prst="rightArrow">
            <a:avLst/>
          </a:prstGeom>
          <a:solidFill>
            <a:schemeClr val="accent6"/>
          </a:solidFill>
          <a:ln/>
        </p:spPr>
      </p:sp>
      <p:sp>
        <p:nvSpPr>
          <p:cNvPr id="27" name="card"/>
          <p:cNvSpPr/>
          <p:nvPr/>
        </p:nvSpPr>
        <p:spPr>
          <a:xfrm>
            <a:off x="9217152" y="1508760"/>
            <a:ext cx="2432304" cy="4023360"/>
          </a:xfrm>
          <a:prstGeom prst="roundRect">
            <a:avLst>
              <a:gd name="adj" fmla="val 4511"/>
            </a:avLst>
          </a:prstGeom>
          <a:solidFill>
            <a:schemeClr val="bg1"/>
          </a:solidFill>
          <a:ln/>
          <a:effectLst>
            <a:outerShdw sx="100000" sy="100000" kx="0" ky="0" algn="bl" rotWithShape="0" blurRad="101600" dist="25400" dir="5400000">
              <a:srgbClr val="0B1220">
                <a:alpha val="12000"/>
              </a:srgbClr>
            </a:outerShdw>
          </a:effectLst>
        </p:spPr>
      </p:sp>
      <p:sp>
        <p:nvSpPr>
          <p:cNvPr id="28" name="stage-num"/>
          <p:cNvSpPr/>
          <p:nvPr/>
        </p:nvSpPr>
        <p:spPr>
          <a:xfrm>
            <a:off x="9445752" y="1737360"/>
            <a:ext cx="457200" cy="457200"/>
          </a:xfrm>
          <a:prstGeom prst="ellipse">
            <a:avLst/>
          </a:prstGeom>
          <a:solidFill>
            <a:schemeClr val="accent1"/>
          </a:solidFill>
          <a:ln/>
        </p:spPr>
      </p:sp>
      <p:sp>
        <p:nvSpPr>
          <p:cNvPr id="29" name="Text 27"/>
          <p:cNvSpPr txBox="1"/>
          <p:nvPr/>
        </p:nvSpPr>
        <p:spPr>
          <a:xfrm>
            <a:off x="9445752" y="17373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30" name="Text 28"/>
          <p:cNvSpPr txBox="1"/>
          <p:nvPr/>
        </p:nvSpPr>
        <p:spPr>
          <a:xfrm>
            <a:off x="10040112" y="1709928"/>
            <a:ext cx="1463040" cy="548640"/>
          </a:xfrm>
          <a:prstGeom prst="rect">
            <a:avLst/>
          </a:prstGeom>
          <a:noFill/>
          <a:ln/>
        </p:spPr>
        <p:txBody>
          <a:bodyPr wrap="square" lIns="0" tIns="0" rIns="0" bIns="0" rtlCol="0" anchor="ctr"/>
          <a:lstStyle/>
          <a:p>
            <a:pPr indent="0" marL="0">
              <a:buNone/>
            </a:pPr>
            <a:r>
              <a:rPr lang="en-US" sz="1600" b="1" dirty="0">
                <a:solidFill>
                  <a:schemeClr val="tx1"/>
                </a:solidFill>
              </a:rPr>
              <a:t>Async backbone</a:t>
            </a:r>
            <a:endParaRPr lang="en-US" sz="1600" dirty="0"/>
          </a:p>
        </p:txBody>
      </p:sp>
      <p:sp>
        <p:nvSpPr>
          <p:cNvPr id="31" name="Text 29"/>
          <p:cNvSpPr txBox="1"/>
          <p:nvPr/>
        </p:nvSpPr>
        <p:spPr>
          <a:xfrm>
            <a:off x="9445752" y="2423160"/>
            <a:ext cx="2011680" cy="548640"/>
          </a:xfrm>
          <a:prstGeom prst="rect">
            <a:avLst/>
          </a:prstGeom>
          <a:noFill/>
          <a:ln/>
        </p:spPr>
        <p:txBody>
          <a:bodyPr wrap="square" lIns="0" tIns="0" rIns="0" bIns="0" rtlCol="0" anchor="t"/>
          <a:lstStyle/>
          <a:p>
            <a:pPr indent="0" marL="0">
              <a:buNone/>
            </a:pPr>
            <a:r>
              <a:rPr lang="en-US" sz="3000" b="1" dirty="0">
                <a:solidFill>
                  <a:schemeClr val="accent2"/>
                </a:solidFill>
              </a:rPr>
              <a:t>RPO = 0</a:t>
            </a:r>
            <a:endParaRPr lang="en-US" sz="3000" dirty="0"/>
          </a:p>
        </p:txBody>
      </p:sp>
      <p:sp>
        <p:nvSpPr>
          <p:cNvPr id="32" name="Text 30"/>
          <p:cNvSpPr txBox="1"/>
          <p:nvPr/>
        </p:nvSpPr>
        <p:spPr>
          <a:xfrm>
            <a:off x="9445752" y="3017520"/>
            <a:ext cx="2011680" cy="548640"/>
          </a:xfrm>
          <a:prstGeom prst="rect">
            <a:avLst/>
          </a:prstGeom>
          <a:noFill/>
          <a:ln/>
        </p:spPr>
        <p:txBody>
          <a:bodyPr wrap="square" lIns="0" tIns="0" rIns="0" bIns="0" rtlCol="0" anchor="t"/>
          <a:lstStyle/>
          <a:p>
            <a:pPr indent="0" marL="0">
              <a:buNone/>
            </a:pPr>
            <a:r>
              <a:rPr lang="en-US" sz="1400" dirty="0">
                <a:solidFill>
                  <a:schemeClr val="accent6"/>
                </a:solidFill>
              </a:rPr>
              <a:t>no paid order lost</a:t>
            </a:r>
            <a:endParaRPr lang="en-US" sz="1400" dirty="0"/>
          </a:p>
        </p:txBody>
      </p:sp>
      <p:sp>
        <p:nvSpPr>
          <p:cNvPr id="33" name="Text 31"/>
          <p:cNvSpPr txBox="1"/>
          <p:nvPr/>
        </p:nvSpPr>
        <p:spPr>
          <a:xfrm>
            <a:off x="9445752" y="3703320"/>
            <a:ext cx="2011680" cy="16916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Transactional outbox</a:t>
            </a:r>
            <a:endParaRPr lang="en-US" sz="1400" dirty="0"/>
          </a:p>
          <a:p>
            <a:pPr marL="342900" indent="-342900">
              <a:spcAft>
                <a:spcPts val="400"/>
              </a:spcAft>
              <a:buSzPct val="100000"/>
              <a:buChar char="•"/>
            </a:pPr>
            <a:r>
              <a:rPr lang="en-US" sz="1400" dirty="0">
                <a:solidFill>
                  <a:schemeClr val="tx1"/>
                </a:solidFill>
              </a:rPr>
              <a:t>Apache Kafka</a:t>
            </a:r>
            <a:endParaRPr lang="en-US" sz="1400" dirty="0"/>
          </a:p>
          <a:p>
            <a:pPr marL="342900" indent="-342900">
              <a:spcAft>
                <a:spcPts val="400"/>
              </a:spcAft>
              <a:buSzPct val="100000"/>
              <a:buChar char="•"/>
            </a:pPr>
            <a:r>
              <a:rPr lang="en-US" sz="1400" dirty="0">
                <a:solidFill>
                  <a:schemeClr val="tx1"/>
                </a:solidFill>
              </a:rPr>
              <a:t>Order, Fulfilment, Shipment, Notification</a:t>
            </a:r>
            <a:endParaRPr lang="en-US" sz="1400" dirty="0"/>
          </a:p>
        </p:txBody>
      </p:sp>
      <p:sp>
        <p:nvSpPr>
          <p:cNvPr id="34" name="banner"/>
          <p:cNvSpPr/>
          <p:nvPr/>
        </p:nvSpPr>
        <p:spPr>
          <a:xfrm>
            <a:off x="548640" y="5715000"/>
            <a:ext cx="11091672" cy="502920"/>
          </a:xfrm>
          <a:prstGeom prst="roundRect">
            <a:avLst>
              <a:gd name="adj" fmla="val 21818"/>
            </a:avLst>
          </a:prstGeom>
          <a:solidFill>
            <a:schemeClr val="tx2"/>
          </a:solidFill>
          <a:ln/>
        </p:spPr>
      </p:sp>
      <p:sp>
        <p:nvSpPr>
          <p:cNvPr id="35" name="Text 33"/>
          <p:cNvSpPr txBox="1"/>
          <p:nvPr/>
        </p:nvSpPr>
        <p:spPr>
          <a:xfrm>
            <a:off x="548640" y="5715000"/>
            <a:ext cx="11091672" cy="502920"/>
          </a:xfrm>
          <a:prstGeom prst="rect">
            <a:avLst/>
          </a:prstGeom>
          <a:noFill/>
          <a:ln/>
        </p:spPr>
        <p:txBody>
          <a:bodyPr wrap="square" lIns="0" tIns="0" rIns="0" bIns="0" rtlCol="0" anchor="ctr"/>
          <a:lstStyle/>
          <a:p>
            <a:pPr algn="ctr" indent="0" marL="0">
              <a:buNone/>
            </a:pPr>
            <a:r>
              <a:rPr lang="en-US" sz="1600" b="1" dirty="0">
                <a:solidFill>
                  <a:schemeClr val="bg1"/>
                </a:solidFill>
              </a:rPr>
              <a:t>The synchronous path ends at the ledger. Everything after payment is asynchronous.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10,000 requests, 100 units, zero oversell</a:t>
            </a:r>
            <a:endParaRPr lang="en-US" sz="3400" dirty="0"/>
          </a:p>
        </p:txBody>
      </p:sp>
      <p:sp>
        <p:nvSpPr>
          <p:cNvPr id="3" name="node-buyers"/>
          <p:cNvSpPr/>
          <p:nvPr/>
        </p:nvSpPr>
        <p:spPr>
          <a:xfrm>
            <a:off x="548640" y="2743200"/>
            <a:ext cx="1645920" cy="1188720"/>
          </a:xfrm>
          <a:prstGeom prst="roundRect">
            <a:avLst>
              <a:gd name="adj" fmla="val 9231"/>
            </a:avLst>
          </a:prstGeom>
          <a:solidFill>
            <a:schemeClr val="tx2"/>
          </a:solidFill>
          <a:ln/>
          <a:effectLst>
            <a:outerShdw sx="100000" sy="100000" kx="0" ky="0" algn="bl" rotWithShape="0" blurRad="101600" dist="25400" dir="5400000">
              <a:srgbClr val="0B1220">
                <a:alpha val="12000"/>
              </a:srgbClr>
            </a:outerShdw>
          </a:effectLst>
        </p:spPr>
      </p:sp>
      <p:sp>
        <p:nvSpPr>
          <p:cNvPr id="4" name="Text 2"/>
          <p:cNvSpPr txBox="1"/>
          <p:nvPr/>
        </p:nvSpPr>
        <p:spPr>
          <a:xfrm>
            <a:off x="548640" y="2743200"/>
            <a:ext cx="1645920" cy="1188720"/>
          </a:xfrm>
          <a:prstGeom prst="rect">
            <a:avLst/>
          </a:prstGeom>
          <a:noFill/>
          <a:ln/>
        </p:spPr>
        <p:txBody>
          <a:bodyPr wrap="square" lIns="0" tIns="0" rIns="0" bIns="0" rtlCol="0" anchor="ctr"/>
          <a:lstStyle/>
          <a:p>
            <a:pPr algn="ctr" indent="0" marL="0">
              <a:buNone/>
            </a:pPr>
            <a:r>
              <a:rPr lang="en-US" sz="2400" b="1" dirty="0">
                <a:solidFill>
                  <a:schemeClr val="bg1"/>
                </a:solidFill>
              </a:rPr>
              <a:t>10,000</a:t>
            </a:r>
            <a:endParaRPr lang="en-US" sz="1400" dirty="0"/>
          </a:p>
          <a:p>
            <a:pPr algn="ctr" indent="0" marL="0">
              <a:buNone/>
            </a:pPr>
            <a:r>
              <a:rPr lang="en-US" sz="1400" dirty="0">
                <a:solidFill>
                  <a:schemeClr val="bg1"/>
                </a:solidFill>
              </a:rPr>
              <a:t>Buy Now clicks</a:t>
            </a:r>
            <a:endParaRPr lang="en-US" sz="1400" dirty="0"/>
          </a:p>
        </p:txBody>
      </p:sp>
      <p:sp>
        <p:nvSpPr>
          <p:cNvPr id="5" name="node-gate"/>
          <p:cNvSpPr/>
          <p:nvPr/>
        </p:nvSpPr>
        <p:spPr>
          <a:xfrm>
            <a:off x="2743200" y="2743200"/>
            <a:ext cx="1783080" cy="1188720"/>
          </a:xfrm>
          <a:prstGeom prst="roundRect">
            <a:avLst>
              <a:gd name="adj" fmla="val 9231"/>
            </a:avLst>
          </a:prstGeom>
          <a:solidFill>
            <a:schemeClr val="accent1"/>
          </a:solidFill>
          <a:ln/>
          <a:effectLst>
            <a:outerShdw sx="100000" sy="100000" kx="0" ky="0" algn="bl" rotWithShape="0" blurRad="101600" dist="25400" dir="5400000">
              <a:srgbClr val="0B1220">
                <a:alpha val="12000"/>
              </a:srgbClr>
            </a:outerShdw>
          </a:effectLst>
        </p:spPr>
      </p:sp>
      <p:sp>
        <p:nvSpPr>
          <p:cNvPr id="6" name="Text 4"/>
          <p:cNvSpPr txBox="1"/>
          <p:nvPr/>
        </p:nvSpPr>
        <p:spPr>
          <a:xfrm>
            <a:off x="2743200" y="2743200"/>
            <a:ext cx="1783080" cy="1188720"/>
          </a:xfrm>
          <a:prstGeom prst="rect">
            <a:avLst/>
          </a:prstGeom>
          <a:noFill/>
          <a:ln/>
        </p:spPr>
        <p:txBody>
          <a:bodyPr wrap="square" lIns="0" tIns="0" rIns="0" bIns="0" rtlCol="0" anchor="ctr"/>
          <a:lstStyle/>
          <a:p>
            <a:pPr algn="ctr" indent="0" marL="0">
              <a:buNone/>
            </a:pPr>
            <a:r>
              <a:rPr lang="en-US" sz="1600" b="1" dirty="0">
                <a:solidFill>
                  <a:schemeClr val="tx1"/>
                </a:solidFill>
              </a:rPr>
              <a:t>Redis Lua gate</a:t>
            </a:r>
            <a:endParaRPr lang="en-US" sz="1400" dirty="0"/>
          </a:p>
          <a:p>
            <a:pPr algn="ctr" indent="0" marL="0">
              <a:buNone/>
            </a:pPr>
            <a:r>
              <a:rPr lang="en-US" sz="1400" dirty="0">
                <a:solidFill>
                  <a:schemeClr val="tx1"/>
                </a:solidFill>
              </a:rPr>
              <a:t>atomic DECRBY</a:t>
            </a:r>
            <a:endParaRPr lang="en-US" sz="1400" dirty="0"/>
          </a:p>
        </p:txBody>
      </p:sp>
      <p:sp>
        <p:nvSpPr>
          <p:cNvPr id="7" name="node-reject"/>
          <p:cNvSpPr/>
          <p:nvPr/>
        </p:nvSpPr>
        <p:spPr>
          <a:xfrm>
            <a:off x="5120640" y="1554480"/>
            <a:ext cx="1828800" cy="1417320"/>
          </a:xfrm>
          <a:prstGeom prst="roundRect">
            <a:avLst>
              <a:gd name="adj" fmla="val 7742"/>
            </a:avLst>
          </a:prstGeom>
          <a:solidFill>
            <a:schemeClr val="accent4"/>
          </a:solidFill>
          <a:ln/>
          <a:effectLst>
            <a:outerShdw sx="100000" sy="100000" kx="0" ky="0" algn="bl" rotWithShape="0" blurRad="101600" dist="25400" dir="5400000">
              <a:srgbClr val="0B1220">
                <a:alpha val="12000"/>
              </a:srgbClr>
            </a:outerShdw>
          </a:effectLst>
        </p:spPr>
      </p:sp>
      <p:sp>
        <p:nvSpPr>
          <p:cNvPr id="8" name="Text 6"/>
          <p:cNvSpPr txBox="1"/>
          <p:nvPr/>
        </p:nvSpPr>
        <p:spPr>
          <a:xfrm>
            <a:off x="5212080" y="1554480"/>
            <a:ext cx="1645920" cy="1417320"/>
          </a:xfrm>
          <a:prstGeom prst="rect">
            <a:avLst/>
          </a:prstGeom>
          <a:noFill/>
          <a:ln/>
        </p:spPr>
        <p:txBody>
          <a:bodyPr wrap="square" lIns="0" tIns="0" rIns="0" bIns="0" rtlCol="0" anchor="ctr"/>
          <a:lstStyle/>
          <a:p>
            <a:pPr algn="ctr" indent="0" marL="0">
              <a:buNone/>
            </a:pPr>
            <a:r>
              <a:rPr lang="en-US" sz="1800" b="1" dirty="0">
                <a:solidFill>
                  <a:schemeClr val="bg1"/>
                </a:solidFill>
              </a:rPr>
              <a:t>9,900 rejected</a:t>
            </a:r>
            <a:endParaRPr lang="en-US" sz="1400" dirty="0"/>
          </a:p>
          <a:p>
            <a:pPr algn="ctr" indent="0" marL="0">
              <a:buNone/>
            </a:pPr>
            <a:r>
              <a:rPr lang="en-US" sz="1400" dirty="0">
                <a:solidFill>
                  <a:schemeClr val="bg1"/>
                </a:solidFill>
              </a:rPr>
              <a:t>409 SOLD_OUT in RAM, &lt; 0.1 ms</a:t>
            </a:r>
            <a:endParaRPr lang="en-US" sz="1400" dirty="0"/>
          </a:p>
        </p:txBody>
      </p:sp>
      <p:sp>
        <p:nvSpPr>
          <p:cNvPr id="9" name="node-win"/>
          <p:cNvSpPr/>
          <p:nvPr/>
        </p:nvSpPr>
        <p:spPr>
          <a:xfrm>
            <a:off x="5120640" y="3749040"/>
            <a:ext cx="1828800" cy="1783080"/>
          </a:xfrm>
          <a:prstGeom prst="roundRect">
            <a:avLst>
              <a:gd name="adj" fmla="val 6154"/>
            </a:avLst>
          </a:prstGeom>
          <a:solidFill>
            <a:schemeClr val="accent3"/>
          </a:solidFill>
          <a:ln/>
          <a:effectLst>
            <a:outerShdw sx="100000" sy="100000" kx="0" ky="0" algn="bl" rotWithShape="0" blurRad="101600" dist="25400" dir="5400000">
              <a:srgbClr val="0B1220">
                <a:alpha val="12000"/>
              </a:srgbClr>
            </a:outerShdw>
          </a:effectLst>
        </p:spPr>
      </p:sp>
      <p:sp>
        <p:nvSpPr>
          <p:cNvPr id="10" name="Text 8"/>
          <p:cNvSpPr txBox="1"/>
          <p:nvPr/>
        </p:nvSpPr>
        <p:spPr>
          <a:xfrm>
            <a:off x="5212080" y="3749040"/>
            <a:ext cx="1645920" cy="1783080"/>
          </a:xfrm>
          <a:prstGeom prst="rect">
            <a:avLst/>
          </a:prstGeom>
          <a:noFill/>
          <a:ln/>
        </p:spPr>
        <p:txBody>
          <a:bodyPr wrap="square" lIns="0" tIns="0" rIns="0" bIns="0" rtlCol="0" anchor="ctr"/>
          <a:lstStyle/>
          <a:p>
            <a:pPr algn="ctr" indent="0" marL="0">
              <a:buNone/>
            </a:pPr>
            <a:r>
              <a:rPr lang="en-US" sz="1800" b="1" dirty="0">
                <a:solidFill>
                  <a:schemeClr val="bg1"/>
                </a:solidFill>
              </a:rPr>
              <a:t>100 winners</a:t>
            </a:r>
            <a:endParaRPr lang="en-US" sz="1400" dirty="0"/>
          </a:p>
          <a:p>
            <a:pPr algn="ctr" indent="0" marL="0">
              <a:buNone/>
            </a:pPr>
            <a:r>
              <a:rPr lang="en-US" sz="1400" dirty="0">
                <a:solidFill>
                  <a:schemeClr val="bg1"/>
                </a:solidFill>
              </a:rPr>
              <a:t>Conditional UPDATE in PostgreSQL</a:t>
            </a:r>
            <a:endParaRPr lang="en-US" sz="1400" dirty="0"/>
          </a:p>
          <a:p>
            <a:pPr algn="ctr" indent="0" marL="0">
              <a:buNone/>
            </a:pPr>
            <a:r>
              <a:rPr lang="en-US" sz="1400" dirty="0">
                <a:solidFill>
                  <a:schemeClr val="bg1"/>
                </a:solidFill>
              </a:rPr>
              <a:t>10-min reservation TTL</a:t>
            </a:r>
            <a:endParaRPr lang="en-US" sz="1400" dirty="0"/>
          </a:p>
        </p:txBody>
      </p:sp>
      <p:sp>
        <p:nvSpPr>
          <p:cNvPr id="11" name="Shape 9"/>
          <p:cNvSpPr/>
          <p:nvPr/>
        </p:nvSpPr>
        <p:spPr>
          <a:xfrm>
            <a:off x="2194560" y="3337560"/>
            <a:ext cx="548640" cy="0"/>
          </a:xfrm>
          <a:prstGeom prst="line">
            <a:avLst/>
          </a:prstGeom>
          <a:noFill/>
          <a:ln w="25400">
            <a:solidFill>
              <a:schemeClr val="tx2"/>
            </a:solidFill>
            <a:prstDash val="solid"/>
            <a:tailEnd type="triangle"/>
          </a:ln>
        </p:spPr>
      </p:sp>
      <p:sp>
        <p:nvSpPr>
          <p:cNvPr id="12" name="Shape 10"/>
          <p:cNvSpPr/>
          <p:nvPr/>
        </p:nvSpPr>
        <p:spPr>
          <a:xfrm flipV="1">
            <a:off x="4526280" y="2377440"/>
            <a:ext cx="594360" cy="640080"/>
          </a:xfrm>
          <a:prstGeom prst="line">
            <a:avLst/>
          </a:prstGeom>
          <a:noFill/>
          <a:ln w="25400">
            <a:solidFill>
              <a:schemeClr val="tx2"/>
            </a:solidFill>
            <a:prstDash val="solid"/>
            <a:tailEnd type="triangle"/>
          </a:ln>
        </p:spPr>
      </p:sp>
      <p:sp>
        <p:nvSpPr>
          <p:cNvPr id="13" name="Shape 11"/>
          <p:cNvSpPr/>
          <p:nvPr/>
        </p:nvSpPr>
        <p:spPr>
          <a:xfrm>
            <a:off x="4526280" y="3657600"/>
            <a:ext cx="594360" cy="731520"/>
          </a:xfrm>
          <a:prstGeom prst="line">
            <a:avLst/>
          </a:prstGeom>
          <a:noFill/>
          <a:ln w="25400">
            <a:solidFill>
              <a:schemeClr val="tx2"/>
            </a:solidFill>
            <a:prstDash val="solid"/>
            <a:tailEnd type="triangle"/>
          </a:ln>
        </p:spPr>
      </p:sp>
      <p:sp>
        <p:nvSpPr>
          <p:cNvPr id="14" name="last-unit"/>
          <p:cNvSpPr/>
          <p:nvPr/>
        </p:nvSpPr>
        <p:spPr>
          <a:xfrm>
            <a:off x="548640" y="5715000"/>
            <a:ext cx="6400800" cy="502920"/>
          </a:xfrm>
          <a:prstGeom prst="roundRect">
            <a:avLst>
              <a:gd name="adj" fmla="val 21818"/>
            </a:avLst>
          </a:prstGeom>
          <a:solidFill>
            <a:schemeClr val="bg1"/>
          </a:solidFill>
          <a:ln/>
        </p:spPr>
      </p:sp>
      <p:sp>
        <p:nvSpPr>
          <p:cNvPr id="15" name="Text 13"/>
          <p:cNvSpPr txBox="1"/>
          <p:nvPr/>
        </p:nvSpPr>
        <p:spPr>
          <a:xfrm>
            <a:off x="548640" y="5715000"/>
            <a:ext cx="6400800" cy="502920"/>
          </a:xfrm>
          <a:prstGeom prst="rect">
            <a:avLst/>
          </a:prstGeom>
          <a:noFill/>
          <a:ln/>
        </p:spPr>
        <p:txBody>
          <a:bodyPr wrap="square" lIns="0" tIns="0" rIns="0" bIns="0" rtlCol="0" anchor="ctr"/>
          <a:lstStyle/>
          <a:p>
            <a:pPr algn="ctr" indent="0" marL="0">
              <a:buNone/>
            </a:pPr>
            <a:r>
              <a:rPr lang="en-US" sz="1400" b="1" dirty="0">
                <a:solidFill>
                  <a:schemeClr val="tx1"/>
                </a:solidFill>
              </a:rPr>
              <a:t>Last unit, two requests: one gets a reservation, the other SOLD_OUT</a:t>
            </a:r>
            <a:endParaRPr lang="en-US" sz="1400" dirty="0"/>
          </a:p>
        </p:txBody>
      </p:sp>
      <p:sp>
        <p:nvSpPr>
          <p:cNvPr id="16" name="card"/>
          <p:cNvSpPr/>
          <p:nvPr/>
        </p:nvSpPr>
        <p:spPr>
          <a:xfrm>
            <a:off x="7315200" y="1554480"/>
            <a:ext cx="4325112" cy="3246120"/>
          </a:xfrm>
          <a:prstGeom prst="roundRect">
            <a:avLst>
              <a:gd name="adj" fmla="val 3380"/>
            </a:avLst>
          </a:prstGeom>
          <a:solidFill>
            <a:schemeClr val="bg1"/>
          </a:solidFill>
          <a:ln/>
          <a:effectLst>
            <a:outerShdw sx="100000" sy="100000" kx="0" ky="0" algn="bl" rotWithShape="0" blurRad="101600" dist="25400" dir="5400000">
              <a:srgbClr val="0B1220">
                <a:alpha val="12000"/>
              </a:srgbClr>
            </a:outerShdw>
          </a:effectLst>
        </p:spPr>
      </p:sp>
      <p:sp>
        <p:nvSpPr>
          <p:cNvPr id="17" name="Text 15"/>
          <p:cNvSpPr txBox="1"/>
          <p:nvPr/>
        </p:nvSpPr>
        <p:spPr>
          <a:xfrm>
            <a:off x="7589520" y="1737360"/>
            <a:ext cx="3840480" cy="365760"/>
          </a:xfrm>
          <a:prstGeom prst="rect">
            <a:avLst/>
          </a:prstGeom>
          <a:noFill/>
          <a:ln/>
        </p:spPr>
        <p:txBody>
          <a:bodyPr wrap="square" lIns="0" tIns="0" rIns="0" bIns="0" rtlCol="0" anchor="t"/>
          <a:lstStyle/>
          <a:p>
            <a:pPr indent="0" marL="0">
              <a:buNone/>
            </a:pPr>
            <a:r>
              <a:rPr lang="en-US" sz="2000" b="1" dirty="0">
                <a:solidFill>
                  <a:schemeClr val="tx1"/>
                </a:solidFill>
              </a:rPr>
              <a:t>Why it cannot oversell</a:t>
            </a:r>
            <a:endParaRPr lang="en-US" sz="2000" dirty="0"/>
          </a:p>
        </p:txBody>
      </p:sp>
      <p:sp>
        <p:nvSpPr>
          <p:cNvPr id="18" name="why-num"/>
          <p:cNvSpPr/>
          <p:nvPr/>
        </p:nvSpPr>
        <p:spPr>
          <a:xfrm>
            <a:off x="7589520" y="2331720"/>
            <a:ext cx="411480" cy="411480"/>
          </a:xfrm>
          <a:prstGeom prst="ellipse">
            <a:avLst/>
          </a:prstGeom>
          <a:solidFill>
            <a:schemeClr val="accent2"/>
          </a:solidFill>
          <a:ln/>
        </p:spPr>
      </p:sp>
      <p:sp>
        <p:nvSpPr>
          <p:cNvPr id="19" name="Text 17"/>
          <p:cNvSpPr txBox="1"/>
          <p:nvPr/>
        </p:nvSpPr>
        <p:spPr>
          <a:xfrm>
            <a:off x="7589520" y="233172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0" name="Text 18"/>
          <p:cNvSpPr txBox="1"/>
          <p:nvPr/>
        </p:nvSpPr>
        <p:spPr>
          <a:xfrm>
            <a:off x="8183880" y="2286000"/>
            <a:ext cx="3291840" cy="731520"/>
          </a:xfrm>
          <a:prstGeom prst="rect">
            <a:avLst/>
          </a:prstGeom>
          <a:noFill/>
          <a:ln/>
        </p:spPr>
        <p:txBody>
          <a:bodyPr wrap="square" lIns="0" tIns="0" rIns="0" bIns="0" rtlCol="0" anchor="t"/>
          <a:lstStyle/>
          <a:p>
            <a:pPr indent="0" marL="0">
              <a:buNone/>
            </a:pPr>
            <a:r>
              <a:rPr lang="en-US" sz="1400" dirty="0">
                <a:solidFill>
                  <a:schemeClr val="tx1"/>
                </a:solidFill>
              </a:rPr>
              <a:t>The Lua script is atomic: requests are decided one at a time</a:t>
            </a:r>
            <a:endParaRPr lang="en-US" sz="1400" dirty="0"/>
          </a:p>
        </p:txBody>
      </p:sp>
      <p:sp>
        <p:nvSpPr>
          <p:cNvPr id="21" name="why-num"/>
          <p:cNvSpPr/>
          <p:nvPr/>
        </p:nvSpPr>
        <p:spPr>
          <a:xfrm>
            <a:off x="7589520" y="3154680"/>
            <a:ext cx="411480" cy="411480"/>
          </a:xfrm>
          <a:prstGeom prst="ellipse">
            <a:avLst/>
          </a:prstGeom>
          <a:solidFill>
            <a:schemeClr val="accent2"/>
          </a:solidFill>
          <a:ln/>
        </p:spPr>
      </p:sp>
      <p:sp>
        <p:nvSpPr>
          <p:cNvPr id="22" name="Text 20"/>
          <p:cNvSpPr txBox="1"/>
          <p:nvPr/>
        </p:nvSpPr>
        <p:spPr>
          <a:xfrm>
            <a:off x="7589520" y="31546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3" name="Text 21"/>
          <p:cNvSpPr txBox="1"/>
          <p:nvPr/>
        </p:nvSpPr>
        <p:spPr>
          <a:xfrm>
            <a:off x="8183880" y="3108960"/>
            <a:ext cx="3291840" cy="731520"/>
          </a:xfrm>
          <a:prstGeom prst="rect">
            <a:avLst/>
          </a:prstGeom>
          <a:noFill/>
          <a:ln/>
        </p:spPr>
        <p:txBody>
          <a:bodyPr wrap="square" lIns="0" tIns="0" rIns="0" bIns="0" rtlCol="0" anchor="t"/>
          <a:lstStyle/>
          <a:p>
            <a:pPr indent="0" marL="0">
              <a:buNone/>
            </a:pPr>
            <a:r>
              <a:rPr lang="en-US" sz="1400" dirty="0">
                <a:solidFill>
                  <a:schemeClr val="tx1"/>
                </a:solidFill>
              </a:rPr>
              <a:t>UPDATE ... WHERE available &gt;= 1 plus a CHECK constraint is the backstop</a:t>
            </a:r>
            <a:endParaRPr lang="en-US" sz="1400" dirty="0"/>
          </a:p>
        </p:txBody>
      </p:sp>
      <p:sp>
        <p:nvSpPr>
          <p:cNvPr id="24" name="why-num"/>
          <p:cNvSpPr/>
          <p:nvPr/>
        </p:nvSpPr>
        <p:spPr>
          <a:xfrm>
            <a:off x="7589520" y="3977640"/>
            <a:ext cx="411480" cy="411480"/>
          </a:xfrm>
          <a:prstGeom prst="ellipse">
            <a:avLst/>
          </a:prstGeom>
          <a:solidFill>
            <a:schemeClr val="accent2"/>
          </a:solidFill>
          <a:ln/>
        </p:spPr>
      </p:sp>
      <p:sp>
        <p:nvSpPr>
          <p:cNvPr id="25" name="Text 23"/>
          <p:cNvSpPr txBox="1"/>
          <p:nvPr/>
        </p:nvSpPr>
        <p:spPr>
          <a:xfrm>
            <a:off x="7589520" y="397764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Text 24"/>
          <p:cNvSpPr txBox="1"/>
          <p:nvPr/>
        </p:nvSpPr>
        <p:spPr>
          <a:xfrm>
            <a:off x="8183880" y="3931920"/>
            <a:ext cx="3291840" cy="731520"/>
          </a:xfrm>
          <a:prstGeom prst="rect">
            <a:avLst/>
          </a:prstGeom>
          <a:noFill/>
          <a:ln/>
        </p:spPr>
        <p:txBody>
          <a:bodyPr wrap="square" lIns="0" tIns="0" rIns="0" bIns="0" rtlCol="0" anchor="t"/>
          <a:lstStyle/>
          <a:p>
            <a:pPr indent="0" marL="0">
              <a:buNone/>
            </a:pPr>
            <a:r>
              <a:rPr lang="en-US" sz="1400" dirty="0">
                <a:solidFill>
                  <a:schemeClr val="tx1"/>
                </a:solidFill>
              </a:rPr>
              <a:t>The expiry sweeper (SKIP LOCKED) returns unpaid units to the pool</a:t>
            </a:r>
            <a:endParaRPr lang="en-US" sz="1400" dirty="0"/>
          </a:p>
        </p:txBody>
      </p:sp>
      <p:sp>
        <p:nvSpPr>
          <p:cNvPr id="27" name="rejected-alts"/>
          <p:cNvSpPr/>
          <p:nvPr/>
        </p:nvSpPr>
        <p:spPr>
          <a:xfrm>
            <a:off x="7315200" y="4983480"/>
            <a:ext cx="4325112" cy="1234440"/>
          </a:xfrm>
          <a:prstGeom prst="roundRect">
            <a:avLst>
              <a:gd name="adj" fmla="val 8889"/>
            </a:avLst>
          </a:prstGeom>
          <a:solidFill>
            <a:schemeClr val="tx2"/>
          </a:solidFill>
          <a:ln/>
        </p:spPr>
      </p:sp>
      <p:sp>
        <p:nvSpPr>
          <p:cNvPr id="28" name="Text 26"/>
          <p:cNvSpPr txBox="1"/>
          <p:nvPr/>
        </p:nvSpPr>
        <p:spPr>
          <a:xfrm>
            <a:off x="7589520" y="5120640"/>
            <a:ext cx="38404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REJECTED ALTERNATIVES</a:t>
            </a:r>
            <a:endParaRPr lang="en-US" sz="1200" dirty="0"/>
          </a:p>
        </p:txBody>
      </p:sp>
      <p:sp>
        <p:nvSpPr>
          <p:cNvPr id="29" name="Text 27"/>
          <p:cNvSpPr txBox="1"/>
          <p:nvPr/>
        </p:nvSpPr>
        <p:spPr>
          <a:xfrm>
            <a:off x="7589520" y="5440680"/>
            <a:ext cx="3840480" cy="685800"/>
          </a:xfrm>
          <a:prstGeom prst="rect">
            <a:avLst/>
          </a:prstGeom>
          <a:noFill/>
          <a:ln/>
        </p:spPr>
        <p:txBody>
          <a:bodyPr wrap="square" lIns="0" tIns="0" rIns="0" bIns="0" rtlCol="0" anchor="t"/>
          <a:lstStyle/>
          <a:p>
            <a:pPr indent="0" marL="0">
              <a:buNone/>
            </a:pPr>
            <a:r>
              <a:rPr lang="en-US" sz="1400" dirty="0">
                <a:solidFill>
                  <a:schemeClr val="bg1"/>
                </a:solidFill>
              </a:rPr>
              <a:t>Optimistic locking: retry storm. SELECT ... FOR UPDATE gate: exhausts DB connections.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Every payment outcome has a safe path</a:t>
            </a:r>
            <a:endParaRPr lang="en-US" sz="3400" dirty="0"/>
          </a:p>
        </p:txBody>
      </p:sp>
      <p:sp>
        <p:nvSpPr>
          <p:cNvPr id="3" name="card"/>
          <p:cNvSpPr/>
          <p:nvPr/>
        </p:nvSpPr>
        <p:spPr>
          <a:xfrm>
            <a:off x="548640" y="1508760"/>
            <a:ext cx="6766560" cy="841248"/>
          </a:xfrm>
          <a:prstGeom prst="roundRect">
            <a:avLst>
              <a:gd name="adj" fmla="val 13043"/>
            </a:avLst>
          </a:prstGeom>
          <a:solidFill>
            <a:schemeClr val="bg1"/>
          </a:solidFill>
          <a:ln/>
          <a:effectLst>
            <a:outerShdw sx="100000" sy="100000" kx="0" ky="0" algn="bl" rotWithShape="0" blurRad="101600" dist="25400" dir="5400000">
              <a:srgbClr val="0B1220">
                <a:alpha val="12000"/>
              </a:srgbClr>
            </a:outerShdw>
          </a:effectLst>
        </p:spPr>
      </p:sp>
      <p:sp>
        <p:nvSpPr>
          <p:cNvPr id="4" name="Text 2"/>
          <p:cNvSpPr txBox="1"/>
          <p:nvPr/>
        </p:nvSpPr>
        <p:spPr>
          <a:xfrm>
            <a:off x="731520" y="1700784"/>
            <a:ext cx="1508760" cy="457200"/>
          </a:xfrm>
          <a:prstGeom prst="roundRect">
            <a:avLst>
              <a:gd name="adj" fmla="val 20000"/>
            </a:avLst>
          </a:prstGeom>
          <a:solidFill>
            <a:schemeClr val="accent3"/>
          </a:solidFill>
          <a:ln/>
        </p:spPr>
        <p:txBody>
          <a:bodyPr wrap="square" lIns="0" tIns="0" rIns="0" bIns="0" rtlCol="0" anchor="ctr"/>
          <a:lstStyle/>
          <a:p>
            <a:pPr algn="ctr" indent="0" marL="0">
              <a:buNone/>
            </a:pPr>
            <a:r>
              <a:rPr lang="en-US" sz="1300" b="1" dirty="0">
                <a:solidFill>
                  <a:schemeClr val="bg1"/>
                </a:solidFill>
              </a:rPr>
              <a:t>Success 95%</a:t>
            </a:r>
            <a:endParaRPr lang="en-US" sz="1300" dirty="0"/>
          </a:p>
        </p:txBody>
      </p:sp>
      <p:sp>
        <p:nvSpPr>
          <p:cNvPr id="5" name="Text 3"/>
          <p:cNvSpPr txBox="1"/>
          <p:nvPr/>
        </p:nvSpPr>
        <p:spPr>
          <a:xfrm>
            <a:off x="2468880" y="1581912"/>
            <a:ext cx="4709160" cy="713232"/>
          </a:xfrm>
          <a:prstGeom prst="rect">
            <a:avLst/>
          </a:prstGeom>
          <a:noFill/>
          <a:ln/>
        </p:spPr>
        <p:txBody>
          <a:bodyPr wrap="square" lIns="0" tIns="0" rIns="0" bIns="0" rtlCol="0" anchor="ctr"/>
          <a:lstStyle/>
          <a:p>
            <a:pPr indent="0" marL="0">
              <a:buNone/>
            </a:pPr>
            <a:r>
              <a:rPr lang="en-US" sz="1400" b="1" dirty="0">
                <a:solidFill>
                  <a:schemeClr val="tx1"/>
                </a:solidFill>
              </a:rPr>
              <a:t>200 OK  </a:t>
            </a:r>
            <a:pPr indent="0" marL="0">
              <a:buNone/>
            </a:pPr>
            <a:r>
              <a:rPr lang="en-US" sz="1400" dirty="0">
                <a:solidFill>
                  <a:schemeClr val="tx1"/>
                </a:solidFill>
              </a:rPr>
              <a:t>Reservation becomes SOLD, payment SUCCESS, and the OrderRequested outbox event is written in one local transaction</a:t>
            </a:r>
            <a:endParaRPr lang="en-US" sz="1400" dirty="0"/>
          </a:p>
        </p:txBody>
      </p:sp>
      <p:sp>
        <p:nvSpPr>
          <p:cNvPr id="6" name="card"/>
          <p:cNvSpPr/>
          <p:nvPr/>
        </p:nvSpPr>
        <p:spPr>
          <a:xfrm>
            <a:off x="548640" y="2459736"/>
            <a:ext cx="6766560" cy="841248"/>
          </a:xfrm>
          <a:prstGeom prst="roundRect">
            <a:avLst>
              <a:gd name="adj" fmla="val 13043"/>
            </a:avLst>
          </a:prstGeom>
          <a:solidFill>
            <a:schemeClr val="bg1"/>
          </a:solidFill>
          <a:ln/>
          <a:effectLst>
            <a:outerShdw sx="100000" sy="100000" kx="0" ky="0" algn="bl" rotWithShape="0" blurRad="101600" dist="25400" dir="5400000">
              <a:srgbClr val="0B1220">
                <a:alpha val="12000"/>
              </a:srgbClr>
            </a:outerShdw>
          </a:effectLst>
        </p:spPr>
      </p:sp>
      <p:sp>
        <p:nvSpPr>
          <p:cNvPr id="7" name="Text 5"/>
          <p:cNvSpPr txBox="1"/>
          <p:nvPr/>
        </p:nvSpPr>
        <p:spPr>
          <a:xfrm>
            <a:off x="731520" y="2651760"/>
            <a:ext cx="1508760" cy="457200"/>
          </a:xfrm>
          <a:prstGeom prst="roundRect">
            <a:avLst>
              <a:gd name="adj" fmla="val 20000"/>
            </a:avLst>
          </a:prstGeom>
          <a:solidFill>
            <a:schemeClr val="accent4"/>
          </a:solidFill>
          <a:ln/>
        </p:spPr>
        <p:txBody>
          <a:bodyPr wrap="square" lIns="0" tIns="0" rIns="0" bIns="0" rtlCol="0" anchor="ctr"/>
          <a:lstStyle/>
          <a:p>
            <a:pPr algn="ctr" indent="0" marL="0">
              <a:buNone/>
            </a:pPr>
            <a:r>
              <a:rPr lang="en-US" sz="1300" b="1" dirty="0">
                <a:solidFill>
                  <a:schemeClr val="bg1"/>
                </a:solidFill>
              </a:rPr>
              <a:t>Declined 5%</a:t>
            </a:r>
            <a:endParaRPr lang="en-US" sz="1300" dirty="0"/>
          </a:p>
        </p:txBody>
      </p:sp>
      <p:sp>
        <p:nvSpPr>
          <p:cNvPr id="8" name="Text 6"/>
          <p:cNvSpPr txBox="1"/>
          <p:nvPr/>
        </p:nvSpPr>
        <p:spPr>
          <a:xfrm>
            <a:off x="2468880" y="2532888"/>
            <a:ext cx="4709160" cy="713232"/>
          </a:xfrm>
          <a:prstGeom prst="rect">
            <a:avLst/>
          </a:prstGeom>
          <a:noFill/>
          <a:ln/>
        </p:spPr>
        <p:txBody>
          <a:bodyPr wrap="square" lIns="0" tIns="0" rIns="0" bIns="0" rtlCol="0" anchor="ctr"/>
          <a:lstStyle/>
          <a:p>
            <a:pPr indent="0" marL="0">
              <a:buNone/>
            </a:pPr>
            <a:r>
              <a:rPr lang="en-US" sz="1400" b="1" dirty="0">
                <a:solidFill>
                  <a:schemeClr val="tx1"/>
                </a:solidFill>
              </a:rPr>
              <a:t>402  </a:t>
            </a:r>
            <a:pPr indent="0" marL="0">
              <a:buNone/>
            </a:pPr>
            <a:r>
              <a:rPr lang="en-US" sz="1400" dirty="0">
                <a:solidFill>
                  <a:schemeClr val="tx1"/>
                </a:solidFill>
              </a:rPr>
              <a:t>Payment FAILED, reservation RELEASED, stock restored in PostgreSQL and Redis</a:t>
            </a:r>
            <a:endParaRPr lang="en-US" sz="1400" dirty="0"/>
          </a:p>
        </p:txBody>
      </p:sp>
      <p:sp>
        <p:nvSpPr>
          <p:cNvPr id="9" name="card"/>
          <p:cNvSpPr/>
          <p:nvPr/>
        </p:nvSpPr>
        <p:spPr>
          <a:xfrm>
            <a:off x="548640" y="3410712"/>
            <a:ext cx="6766560" cy="841248"/>
          </a:xfrm>
          <a:prstGeom prst="roundRect">
            <a:avLst>
              <a:gd name="adj" fmla="val 13043"/>
            </a:avLst>
          </a:prstGeom>
          <a:solidFill>
            <a:schemeClr val="bg1"/>
          </a:solidFill>
          <a:ln/>
          <a:effectLst>
            <a:outerShdw sx="100000" sy="100000" kx="0" ky="0" algn="bl" rotWithShape="0" blurRad="101600" dist="25400" dir="5400000">
              <a:srgbClr val="0B1220">
                <a:alpha val="12000"/>
              </a:srgbClr>
            </a:outerShdw>
          </a:effectLst>
        </p:spPr>
      </p:sp>
      <p:sp>
        <p:nvSpPr>
          <p:cNvPr id="10" name="Text 8"/>
          <p:cNvSpPr txBox="1"/>
          <p:nvPr/>
        </p:nvSpPr>
        <p:spPr>
          <a:xfrm>
            <a:off x="731520" y="3602736"/>
            <a:ext cx="1508760" cy="457200"/>
          </a:xfrm>
          <a:prstGeom prst="roundRect">
            <a:avLst>
              <a:gd name="adj" fmla="val 20000"/>
            </a:avLst>
          </a:prstGeom>
          <a:solidFill>
            <a:schemeClr val="accent1"/>
          </a:solidFill>
          <a:ln/>
        </p:spPr>
        <p:txBody>
          <a:bodyPr wrap="square" lIns="0" tIns="0" rIns="0" bIns="0" rtlCol="0" anchor="ctr"/>
          <a:lstStyle/>
          <a:p>
            <a:pPr algn="ctr" indent="0" marL="0">
              <a:buNone/>
            </a:pPr>
            <a:r>
              <a:rPr lang="en-US" sz="1300" b="1" dirty="0">
                <a:solidFill>
                  <a:schemeClr val="tx1"/>
                </a:solidFill>
              </a:rPr>
              <a:t>Gateway timeout</a:t>
            </a:r>
            <a:endParaRPr lang="en-US" sz="1300" dirty="0"/>
          </a:p>
        </p:txBody>
      </p:sp>
      <p:sp>
        <p:nvSpPr>
          <p:cNvPr id="11" name="Text 9"/>
          <p:cNvSpPr txBox="1"/>
          <p:nvPr/>
        </p:nvSpPr>
        <p:spPr>
          <a:xfrm>
            <a:off x="2468880" y="3483864"/>
            <a:ext cx="4709160" cy="713232"/>
          </a:xfrm>
          <a:prstGeom prst="rect">
            <a:avLst/>
          </a:prstGeom>
          <a:noFill/>
          <a:ln/>
        </p:spPr>
        <p:txBody>
          <a:bodyPr wrap="square" lIns="0" tIns="0" rIns="0" bIns="0" rtlCol="0" anchor="ctr"/>
          <a:lstStyle/>
          <a:p>
            <a:pPr indent="0" marL="0">
              <a:buNone/>
            </a:pPr>
            <a:r>
              <a:rPr lang="en-US" sz="1400" b="1" dirty="0">
                <a:solidFill>
                  <a:schemeClr val="tx1"/>
                </a:solidFill>
              </a:rPr>
              <a:t>202  </a:t>
            </a:r>
            <a:pPr indent="0" marL="0">
              <a:buNone/>
            </a:pPr>
            <a:r>
              <a:rPr lang="en-US" sz="1400" dirty="0">
                <a:solidFill>
                  <a:schemeClr val="tx1"/>
                </a:solidFill>
              </a:rPr>
              <a:t>TIMEOUT_UNKNOWN: the reconciliation worker polls the gateway, then settles or releases</a:t>
            </a:r>
            <a:endParaRPr lang="en-US" sz="1400" dirty="0"/>
          </a:p>
        </p:txBody>
      </p:sp>
      <p:sp>
        <p:nvSpPr>
          <p:cNvPr id="12" name="card"/>
          <p:cNvSpPr/>
          <p:nvPr/>
        </p:nvSpPr>
        <p:spPr>
          <a:xfrm>
            <a:off x="548640" y="4361688"/>
            <a:ext cx="6766560" cy="841248"/>
          </a:xfrm>
          <a:prstGeom prst="roundRect">
            <a:avLst>
              <a:gd name="adj" fmla="val 13043"/>
            </a:avLst>
          </a:prstGeom>
          <a:solidFill>
            <a:schemeClr val="bg1"/>
          </a:solidFill>
          <a:ln/>
          <a:effectLst>
            <a:outerShdw sx="100000" sy="100000" kx="0" ky="0" algn="bl" rotWithShape="0" blurRad="101600" dist="25400" dir="5400000">
              <a:srgbClr val="0B1220">
                <a:alpha val="12000"/>
              </a:srgbClr>
            </a:outerShdw>
          </a:effectLst>
        </p:spPr>
      </p:sp>
      <p:sp>
        <p:nvSpPr>
          <p:cNvPr id="13" name="Text 11"/>
          <p:cNvSpPr txBox="1"/>
          <p:nvPr/>
        </p:nvSpPr>
        <p:spPr>
          <a:xfrm>
            <a:off x="731520" y="4553712"/>
            <a:ext cx="1508760" cy="457200"/>
          </a:xfrm>
          <a:prstGeom prst="roundRect">
            <a:avLst>
              <a:gd name="adj" fmla="val 20000"/>
            </a:avLst>
          </a:prstGeom>
          <a:solidFill>
            <a:schemeClr val="accent2"/>
          </a:solidFill>
          <a:ln/>
        </p:spPr>
        <p:txBody>
          <a:bodyPr wrap="square" lIns="0" tIns="0" rIns="0" bIns="0" rtlCol="0" anchor="ctr"/>
          <a:lstStyle/>
          <a:p>
            <a:pPr algn="ctr" indent="0" marL="0">
              <a:buNone/>
            </a:pPr>
            <a:r>
              <a:rPr lang="en-US" sz="1300" b="1" dirty="0">
                <a:solidFill>
                  <a:schemeClr val="bg1"/>
                </a:solidFill>
              </a:rPr>
              <a:t>Duplicate</a:t>
            </a:r>
            <a:endParaRPr lang="en-US" sz="1300" dirty="0"/>
          </a:p>
        </p:txBody>
      </p:sp>
      <p:sp>
        <p:nvSpPr>
          <p:cNvPr id="14" name="Text 12"/>
          <p:cNvSpPr txBox="1"/>
          <p:nvPr/>
        </p:nvSpPr>
        <p:spPr>
          <a:xfrm>
            <a:off x="2468880" y="4434840"/>
            <a:ext cx="4709160" cy="713232"/>
          </a:xfrm>
          <a:prstGeom prst="rect">
            <a:avLst/>
          </a:prstGeom>
          <a:noFill/>
          <a:ln/>
        </p:spPr>
        <p:txBody>
          <a:bodyPr wrap="square" lIns="0" tIns="0" rIns="0" bIns="0" rtlCol="0" anchor="ctr"/>
          <a:lstStyle/>
          <a:p>
            <a:pPr indent="0" marL="0">
              <a:buNone/>
            </a:pPr>
            <a:r>
              <a:rPr lang="en-US" sz="1400" b="1" dirty="0">
                <a:solidFill>
                  <a:schemeClr val="tx1"/>
                </a:solidFill>
              </a:rPr>
              <a:t>200 replay  </a:t>
            </a:r>
            <a:pPr indent="0" marL="0">
              <a:buNone/>
            </a:pPr>
            <a:r>
              <a:rPr lang="en-US" sz="1400" dirty="0">
                <a:solidFill>
                  <a:schemeClr val="tx1"/>
                </a:solidFill>
              </a:rPr>
              <a:t>Same Idempotency-Key and tx_ref_&lt;reservation_id&gt;, so no second charge</a:t>
            </a:r>
            <a:endParaRPr lang="en-US" sz="1400" dirty="0"/>
          </a:p>
        </p:txBody>
      </p:sp>
      <p:sp>
        <p:nvSpPr>
          <p:cNvPr id="15" name="card"/>
          <p:cNvSpPr/>
          <p:nvPr/>
        </p:nvSpPr>
        <p:spPr>
          <a:xfrm>
            <a:off x="548640" y="5312664"/>
            <a:ext cx="6766560" cy="841248"/>
          </a:xfrm>
          <a:prstGeom prst="roundRect">
            <a:avLst>
              <a:gd name="adj" fmla="val 13043"/>
            </a:avLst>
          </a:prstGeom>
          <a:solidFill>
            <a:schemeClr val="bg1"/>
          </a:solidFill>
          <a:ln/>
          <a:effectLst>
            <a:outerShdw sx="100000" sy="100000" kx="0" ky="0" algn="bl" rotWithShape="0" blurRad="101600" dist="25400" dir="5400000">
              <a:srgbClr val="0B1220">
                <a:alpha val="12000"/>
              </a:srgbClr>
            </a:outerShdw>
          </a:effectLst>
        </p:spPr>
      </p:sp>
      <p:sp>
        <p:nvSpPr>
          <p:cNvPr id="16" name="Text 14"/>
          <p:cNvSpPr txBox="1"/>
          <p:nvPr/>
        </p:nvSpPr>
        <p:spPr>
          <a:xfrm>
            <a:off x="731520" y="5504688"/>
            <a:ext cx="1508760" cy="457200"/>
          </a:xfrm>
          <a:prstGeom prst="roundRect">
            <a:avLst>
              <a:gd name="adj" fmla="val 20000"/>
            </a:avLst>
          </a:prstGeom>
          <a:solidFill>
            <a:schemeClr val="accent5"/>
          </a:solidFill>
          <a:ln/>
        </p:spPr>
        <p:txBody>
          <a:bodyPr wrap="square" lIns="0" tIns="0" rIns="0" bIns="0" rtlCol="0" anchor="ctr"/>
          <a:lstStyle/>
          <a:p>
            <a:pPr algn="ctr" indent="0" marL="0">
              <a:buNone/>
            </a:pPr>
            <a:r>
              <a:rPr lang="en-US" sz="1300" b="1" dirty="0">
                <a:solidFill>
                  <a:schemeClr val="bg1"/>
                </a:solidFill>
              </a:rPr>
              <a:t>Late payment</a:t>
            </a:r>
            <a:endParaRPr lang="en-US" sz="1300" dirty="0"/>
          </a:p>
        </p:txBody>
      </p:sp>
      <p:sp>
        <p:nvSpPr>
          <p:cNvPr id="17" name="Text 15"/>
          <p:cNvSpPr txBox="1"/>
          <p:nvPr/>
        </p:nvSpPr>
        <p:spPr>
          <a:xfrm>
            <a:off x="2468880" y="5385816"/>
            <a:ext cx="4709160" cy="713232"/>
          </a:xfrm>
          <a:prstGeom prst="rect">
            <a:avLst/>
          </a:prstGeom>
          <a:noFill/>
          <a:ln/>
        </p:spPr>
        <p:txBody>
          <a:bodyPr wrap="square" lIns="0" tIns="0" rIns="0" bIns="0" rtlCol="0" anchor="ctr"/>
          <a:lstStyle/>
          <a:p>
            <a:pPr indent="0" marL="0">
              <a:buNone/>
            </a:pPr>
            <a:r>
              <a:rPr lang="en-US" sz="1400" b="1" dirty="0">
                <a:solidFill>
                  <a:schemeClr val="tx1"/>
                </a:solidFill>
              </a:rPr>
              <a:t>Auto-refund  </a:t>
            </a:r>
            <a:pPr indent="0" marL="0">
              <a:buNone/>
            </a:pPr>
            <a:r>
              <a:rPr lang="en-US" sz="1400" dirty="0">
                <a:solidFill>
                  <a:schemeClr val="tx1"/>
                </a:solidFill>
              </a:rPr>
              <a:t>Reservation already expired (rowcount = 0), so the payment is REFUNDED</a:t>
            </a:r>
            <a:endParaRPr lang="en-US" sz="1400" dirty="0"/>
          </a:p>
        </p:txBody>
      </p:sp>
      <p:sp>
        <p:nvSpPr>
          <p:cNvPr id="18" name="outage-panel"/>
          <p:cNvSpPr/>
          <p:nvPr/>
        </p:nvSpPr>
        <p:spPr>
          <a:xfrm>
            <a:off x="7589520" y="1508760"/>
            <a:ext cx="4050792" cy="4645152"/>
          </a:xfrm>
          <a:prstGeom prst="roundRect">
            <a:avLst>
              <a:gd name="adj" fmla="val 2709"/>
            </a:avLst>
          </a:prstGeom>
          <a:solidFill>
            <a:schemeClr val="tx2"/>
          </a:solidFill>
          <a:ln/>
        </p:spPr>
      </p:sp>
      <p:sp>
        <p:nvSpPr>
          <p:cNvPr id="19" name="Text 17"/>
          <p:cNvSpPr txBox="1"/>
          <p:nvPr/>
        </p:nvSpPr>
        <p:spPr>
          <a:xfrm>
            <a:off x="7863840" y="1691640"/>
            <a:ext cx="3566160" cy="365760"/>
          </a:xfrm>
          <a:prstGeom prst="rect">
            <a:avLst/>
          </a:prstGeom>
          <a:noFill/>
          <a:ln/>
        </p:spPr>
        <p:txBody>
          <a:bodyPr wrap="square" lIns="0" tIns="0" rIns="0" bIns="0" rtlCol="0" anchor="t"/>
          <a:lstStyle/>
          <a:p>
            <a:pPr indent="0" marL="0">
              <a:buNone/>
            </a:pPr>
            <a:r>
              <a:rPr lang="en-US" sz="2000" b="1" dirty="0">
                <a:solidFill>
                  <a:schemeClr val="bg1"/>
                </a:solidFill>
              </a:rPr>
              <a:t>Order Service down for 30 s</a:t>
            </a:r>
            <a:endParaRPr lang="en-US" sz="2000" dirty="0"/>
          </a:p>
        </p:txBody>
      </p:sp>
      <p:sp>
        <p:nvSpPr>
          <p:cNvPr id="20" name="Text 18"/>
          <p:cNvSpPr txBox="1"/>
          <p:nvPr/>
        </p:nvSpPr>
        <p:spPr>
          <a:xfrm>
            <a:off x="7863840" y="210312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POST /payments still returns 200</a:t>
            </a:r>
            <a:endParaRPr lang="en-US" sz="1400" dirty="0"/>
          </a:p>
        </p:txBody>
      </p:sp>
      <p:sp>
        <p:nvSpPr>
          <p:cNvPr id="21" name="Text 19"/>
          <p:cNvSpPr txBox="1"/>
          <p:nvPr/>
        </p:nvSpPr>
        <p:spPr>
          <a:xfrm>
            <a:off x="7863840" y="2697480"/>
            <a:ext cx="1005840" cy="365760"/>
          </a:xfrm>
          <a:prstGeom prst="roundRect">
            <a:avLst>
              <a:gd name="adj" fmla="val 25000"/>
            </a:avLst>
          </a:prstGeom>
          <a:solidFill>
            <a:schemeClr val="accent3"/>
          </a:solidFill>
          <a:ln/>
        </p:spPr>
        <p:txBody>
          <a:bodyPr wrap="square" lIns="0" tIns="0" rIns="0" bIns="0" rtlCol="0" anchor="ctr"/>
          <a:lstStyle/>
          <a:p>
            <a:pPr algn="ctr" indent="0" marL="0">
              <a:buNone/>
            </a:pPr>
            <a:r>
              <a:rPr lang="en-US" sz="1100" b="1" dirty="0">
                <a:solidFill>
                  <a:schemeClr val="bg1"/>
                </a:solidFill>
              </a:rPr>
              <a:t>CLOSED</a:t>
            </a:r>
            <a:endParaRPr lang="en-US" sz="1100" dirty="0"/>
          </a:p>
        </p:txBody>
      </p:sp>
      <p:sp>
        <p:nvSpPr>
          <p:cNvPr id="22" name="Shape 20"/>
          <p:cNvSpPr/>
          <p:nvPr/>
        </p:nvSpPr>
        <p:spPr>
          <a:xfrm>
            <a:off x="8887968" y="2880360"/>
            <a:ext cx="237744" cy="0"/>
          </a:xfrm>
          <a:prstGeom prst="line">
            <a:avLst/>
          </a:prstGeom>
          <a:noFill/>
          <a:ln w="25400">
            <a:solidFill>
              <a:schemeClr val="bg2"/>
            </a:solidFill>
            <a:prstDash val="solid"/>
            <a:tailEnd type="triangle"/>
          </a:ln>
        </p:spPr>
      </p:sp>
      <p:sp>
        <p:nvSpPr>
          <p:cNvPr id="23" name="Text 21"/>
          <p:cNvSpPr txBox="1"/>
          <p:nvPr/>
        </p:nvSpPr>
        <p:spPr>
          <a:xfrm>
            <a:off x="9144000" y="2697480"/>
            <a:ext cx="1005840" cy="365760"/>
          </a:xfrm>
          <a:prstGeom prst="roundRect">
            <a:avLst>
              <a:gd name="adj" fmla="val 25000"/>
            </a:avLst>
          </a:prstGeom>
          <a:solidFill>
            <a:schemeClr val="accent4"/>
          </a:solidFill>
          <a:ln/>
        </p:spPr>
        <p:txBody>
          <a:bodyPr wrap="square" lIns="0" tIns="0" rIns="0" bIns="0" rtlCol="0" anchor="ctr"/>
          <a:lstStyle/>
          <a:p>
            <a:pPr algn="ctr" indent="0" marL="0">
              <a:buNone/>
            </a:pPr>
            <a:r>
              <a:rPr lang="en-US" sz="1100" b="1" dirty="0">
                <a:solidFill>
                  <a:schemeClr val="bg1"/>
                </a:solidFill>
              </a:rPr>
              <a:t>OPEN</a:t>
            </a:r>
            <a:endParaRPr lang="en-US" sz="1100" dirty="0"/>
          </a:p>
        </p:txBody>
      </p:sp>
      <p:sp>
        <p:nvSpPr>
          <p:cNvPr id="24" name="Shape 22"/>
          <p:cNvSpPr/>
          <p:nvPr/>
        </p:nvSpPr>
        <p:spPr>
          <a:xfrm>
            <a:off x="10168128" y="2880360"/>
            <a:ext cx="237744" cy="0"/>
          </a:xfrm>
          <a:prstGeom prst="line">
            <a:avLst/>
          </a:prstGeom>
          <a:noFill/>
          <a:ln w="25400">
            <a:solidFill>
              <a:schemeClr val="bg2"/>
            </a:solidFill>
            <a:prstDash val="solid"/>
            <a:tailEnd type="triangle"/>
          </a:ln>
        </p:spPr>
      </p:sp>
      <p:sp>
        <p:nvSpPr>
          <p:cNvPr id="25" name="Text 23"/>
          <p:cNvSpPr txBox="1"/>
          <p:nvPr/>
        </p:nvSpPr>
        <p:spPr>
          <a:xfrm>
            <a:off x="10424160" y="2697480"/>
            <a:ext cx="1005840" cy="365760"/>
          </a:xfrm>
          <a:prstGeom prst="roundRect">
            <a:avLst>
              <a:gd name="adj" fmla="val 25000"/>
            </a:avLst>
          </a:prstGeom>
          <a:solidFill>
            <a:schemeClr val="accent1"/>
          </a:solidFill>
          <a:ln/>
        </p:spPr>
        <p:txBody>
          <a:bodyPr wrap="square" lIns="0" tIns="0" rIns="0" bIns="0" rtlCol="0" anchor="ctr"/>
          <a:lstStyle/>
          <a:p>
            <a:pPr algn="ctr" indent="0" marL="0">
              <a:buNone/>
            </a:pPr>
            <a:r>
              <a:rPr lang="en-US" sz="1100" b="1" dirty="0">
                <a:solidFill>
                  <a:schemeClr val="tx1"/>
                </a:solidFill>
              </a:rPr>
              <a:t>HALF_OPEN</a:t>
            </a:r>
            <a:endParaRPr lang="en-US" sz="1100" dirty="0"/>
          </a:p>
        </p:txBody>
      </p:sp>
      <p:sp>
        <p:nvSpPr>
          <p:cNvPr id="26" name="step-dot"/>
          <p:cNvSpPr/>
          <p:nvPr/>
        </p:nvSpPr>
        <p:spPr>
          <a:xfrm>
            <a:off x="7863840" y="3429000"/>
            <a:ext cx="201168" cy="201168"/>
          </a:xfrm>
          <a:prstGeom prst="ellipse">
            <a:avLst/>
          </a:prstGeom>
          <a:solidFill>
            <a:schemeClr val="accent1"/>
          </a:solidFill>
          <a:ln/>
        </p:spPr>
      </p:sp>
      <p:sp>
        <p:nvSpPr>
          <p:cNvPr id="27" name="Text 25"/>
          <p:cNvSpPr txBox="1"/>
          <p:nvPr/>
        </p:nvSpPr>
        <p:spPr>
          <a:xfrm>
            <a:off x="8229600" y="3383280"/>
            <a:ext cx="3200400" cy="822960"/>
          </a:xfrm>
          <a:prstGeom prst="rect">
            <a:avLst/>
          </a:prstGeom>
          <a:noFill/>
          <a:ln/>
        </p:spPr>
        <p:txBody>
          <a:bodyPr wrap="square" lIns="0" tIns="0" rIns="0" bIns="0" rtlCol="0" anchor="t"/>
          <a:lstStyle/>
          <a:p>
            <a:pPr indent="0" marL="0">
              <a:buNone/>
            </a:pPr>
            <a:r>
              <a:rPr lang="en-US" sz="1400" dirty="0">
                <a:solidFill>
                  <a:schemeClr val="bg1"/>
                </a:solidFill>
              </a:rPr>
              <a:t>Outbox holds every OrderRequested event while payments keep succeeding</a:t>
            </a:r>
            <a:endParaRPr lang="en-US" sz="1400" dirty="0"/>
          </a:p>
        </p:txBody>
      </p:sp>
      <p:sp>
        <p:nvSpPr>
          <p:cNvPr id="28" name="step-dot"/>
          <p:cNvSpPr/>
          <p:nvPr/>
        </p:nvSpPr>
        <p:spPr>
          <a:xfrm>
            <a:off x="7863840" y="4343400"/>
            <a:ext cx="201168" cy="201168"/>
          </a:xfrm>
          <a:prstGeom prst="ellipse">
            <a:avLst/>
          </a:prstGeom>
          <a:solidFill>
            <a:schemeClr val="accent1"/>
          </a:solidFill>
          <a:ln/>
        </p:spPr>
      </p:sp>
      <p:sp>
        <p:nvSpPr>
          <p:cNvPr id="29" name="Text 27"/>
          <p:cNvSpPr txBox="1"/>
          <p:nvPr/>
        </p:nvSpPr>
        <p:spPr>
          <a:xfrm>
            <a:off x="8229600" y="4297680"/>
            <a:ext cx="3200400" cy="822960"/>
          </a:xfrm>
          <a:prstGeom prst="rect">
            <a:avLst/>
          </a:prstGeom>
          <a:noFill/>
          <a:ln/>
        </p:spPr>
        <p:txBody>
          <a:bodyPr wrap="square" lIns="0" tIns="0" rIns="0" bIns="0" rtlCol="0" anchor="t"/>
          <a:lstStyle/>
          <a:p>
            <a:pPr indent="0" marL="0">
              <a:buNone/>
            </a:pPr>
            <a:r>
              <a:rPr lang="en-US" sz="1400" dirty="0">
                <a:solidFill>
                  <a:schemeClr val="bg1"/>
                </a:solidFill>
              </a:rPr>
              <a:t>5 consecutive failures trip the breaker; calls fast-fail with backoff</a:t>
            </a:r>
            <a:endParaRPr lang="en-US" sz="1400" dirty="0"/>
          </a:p>
        </p:txBody>
      </p:sp>
      <p:sp>
        <p:nvSpPr>
          <p:cNvPr id="30" name="step-dot"/>
          <p:cNvSpPr/>
          <p:nvPr/>
        </p:nvSpPr>
        <p:spPr>
          <a:xfrm>
            <a:off x="7863840" y="5257800"/>
            <a:ext cx="201168" cy="201168"/>
          </a:xfrm>
          <a:prstGeom prst="ellipse">
            <a:avLst/>
          </a:prstGeom>
          <a:solidFill>
            <a:schemeClr val="accent1"/>
          </a:solidFill>
          <a:ln/>
        </p:spPr>
      </p:sp>
      <p:sp>
        <p:nvSpPr>
          <p:cNvPr id="31" name="Text 29"/>
          <p:cNvSpPr txBox="1"/>
          <p:nvPr/>
        </p:nvSpPr>
        <p:spPr>
          <a:xfrm>
            <a:off x="8229600" y="5212080"/>
            <a:ext cx="3200400" cy="822960"/>
          </a:xfrm>
          <a:prstGeom prst="rect">
            <a:avLst/>
          </a:prstGeom>
          <a:noFill/>
          <a:ln/>
        </p:spPr>
        <p:txBody>
          <a:bodyPr wrap="square" lIns="0" tIns="0" rIns="0" bIns="0" rtlCol="0" anchor="t"/>
          <a:lstStyle/>
          <a:p>
            <a:pPr indent="0" marL="0">
              <a:buNone/>
            </a:pPr>
            <a:r>
              <a:rPr lang="en-US" sz="1400" dirty="0">
                <a:solidFill>
                  <a:schemeClr val="bg1"/>
                </a:solidFill>
              </a:rPr>
              <a:t>After recovery it probes, closes, and drains all 100 events exactly once (ON CONFLICT DO NOTHING)</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Inventory module: SOLID by construction</a:t>
            </a:r>
            <a:endParaRPr lang="en-US" sz="3400" dirty="0"/>
          </a:p>
        </p:txBody>
      </p:sp>
      <p:sp>
        <p:nvSpPr>
          <p:cNvPr id="3" name="class-diagram-card"/>
          <p:cNvSpPr/>
          <p:nvPr/>
        </p:nvSpPr>
        <p:spPr>
          <a:xfrm>
            <a:off x="548640" y="1508760"/>
            <a:ext cx="6309360" cy="3931920"/>
          </a:xfrm>
          <a:prstGeom prst="roundRect">
            <a:avLst>
              <a:gd name="adj" fmla="val 2791"/>
            </a:avLst>
          </a:prstGeom>
          <a:solidFill>
            <a:schemeClr val="bg1"/>
          </a:solidFill>
          <a:ln/>
          <a:effectLst>
            <a:outerShdw sx="100000" sy="100000" kx="0" ky="0" algn="bl" rotWithShape="0" blurRad="101600" dist="25400" dir="5400000">
              <a:srgbClr val="0B1220">
                <a:alpha val="12000"/>
              </a:srgbClr>
            </a:outerShdw>
          </a:effectLst>
        </p:spPr>
      </p:sp>
      <p:sp>
        <p:nvSpPr>
          <p:cNvPr id="4" name="Text 2"/>
          <p:cNvSpPr txBox="1"/>
          <p:nvPr/>
        </p:nvSpPr>
        <p:spPr>
          <a:xfrm>
            <a:off x="2286000" y="1737360"/>
            <a:ext cx="2743200" cy="640080"/>
          </a:xfrm>
          <a:prstGeom prst="roundRect">
            <a:avLst>
              <a:gd name="adj" fmla="val 11429"/>
            </a:avLst>
          </a:prstGeom>
          <a:solidFill>
            <a:schemeClr val="tx2"/>
          </a:solidFill>
          <a:ln/>
        </p:spPr>
        <p:txBody>
          <a:bodyPr wrap="square" lIns="508" tIns="508" rIns="508" bIns="508" rtlCol="0" anchor="ctr"/>
          <a:lstStyle/>
          <a:p>
            <a:pPr algn="ctr" indent="0" marL="0">
              <a:buNone/>
            </a:pPr>
            <a:r>
              <a:rPr lang="en-US" sz="1400" b="1" dirty="0">
                <a:solidFill>
                  <a:schemeClr val="bg1"/>
                </a:solidFill>
              </a:rPr>
              <a:t>ReservationService</a:t>
            </a:r>
            <a:endParaRPr lang="en-US" sz="1400" dirty="0"/>
          </a:p>
        </p:txBody>
      </p:sp>
      <p:sp>
        <p:nvSpPr>
          <p:cNvPr id="5" name="Text 3"/>
          <p:cNvSpPr txBox="1"/>
          <p:nvPr/>
        </p:nvSpPr>
        <p:spPr>
          <a:xfrm>
            <a:off x="777240" y="2971800"/>
            <a:ext cx="2194560" cy="731520"/>
          </a:xfrm>
          <a:prstGeom prst="roundRect">
            <a:avLst>
              <a:gd name="adj" fmla="val 10000"/>
            </a:avLst>
          </a:prstGeom>
          <a:solidFill>
            <a:schemeClr val="accent1"/>
          </a:solidFill>
          <a:ln/>
        </p:spPr>
        <p:txBody>
          <a:bodyPr wrap="square" lIns="508" tIns="508" rIns="508" bIns="508" rtlCol="0" anchor="ctr"/>
          <a:lstStyle/>
          <a:p>
            <a:pPr algn="ctr" indent="0" marL="0">
              <a:buNone/>
            </a:pPr>
            <a:r>
              <a:rPr lang="en-US" sz="1400" b="1" dirty="0">
                <a:solidFill>
                  <a:schemeClr val="tx1"/>
                </a:solidFill>
              </a:rPr>
              <a:t>RedisLuaStockGate</a:t>
            </a:r>
            <a:endParaRPr lang="en-US" sz="1400" dirty="0"/>
          </a:p>
        </p:txBody>
      </p:sp>
      <p:sp>
        <p:nvSpPr>
          <p:cNvPr id="6" name="Text 4"/>
          <p:cNvSpPr txBox="1"/>
          <p:nvPr/>
        </p:nvSpPr>
        <p:spPr>
          <a:xfrm>
            <a:off x="3749040" y="2971800"/>
            <a:ext cx="2743200" cy="731520"/>
          </a:xfrm>
          <a:prstGeom prst="roundRect">
            <a:avLst>
              <a:gd name="adj" fmla="val 10000"/>
            </a:avLst>
          </a:prstGeom>
          <a:solidFill>
            <a:schemeClr val="bg1"/>
          </a:solidFill>
          <a:ln w="31750">
            <a:solidFill>
              <a:schemeClr val="accent2"/>
            </a:solidFill>
          </a:ln>
        </p:spPr>
        <p:txBody>
          <a:bodyPr wrap="square" lIns="508" tIns="508" rIns="508" bIns="508" rtlCol="0" anchor="ctr"/>
          <a:lstStyle/>
          <a:p>
            <a:pPr algn="ctr" indent="0" marL="0">
              <a:buNone/>
            </a:pPr>
            <a:r>
              <a:rPr lang="en-US" sz="1400" b="1" dirty="0">
                <a:solidFill>
                  <a:schemeClr val="tx1"/>
                </a:solidFill>
              </a:rPr>
              <a:t>&lt;&lt;interface&gt;&gt;</a:t>
            </a:r>
            <a:endParaRPr lang="en-US" sz="1400" dirty="0"/>
          </a:p>
          <a:p>
            <a:pPr algn="ctr" indent="0" marL="0">
              <a:buNone/>
            </a:pPr>
            <a:r>
              <a:rPr lang="en-US" sz="1400" b="1" dirty="0">
                <a:solidFill>
                  <a:schemeClr val="tx1"/>
                </a:solidFill>
              </a:rPr>
              <a:t>IInventoryRepository</a:t>
            </a:r>
            <a:endParaRPr lang="en-US" sz="1400" dirty="0"/>
          </a:p>
        </p:txBody>
      </p:sp>
      <p:sp>
        <p:nvSpPr>
          <p:cNvPr id="7" name="Text 5"/>
          <p:cNvSpPr txBox="1"/>
          <p:nvPr/>
        </p:nvSpPr>
        <p:spPr>
          <a:xfrm>
            <a:off x="777240" y="4434840"/>
            <a:ext cx="2194560" cy="777240"/>
          </a:xfrm>
          <a:prstGeom prst="roundRect">
            <a:avLst>
              <a:gd name="adj" fmla="val 9412"/>
            </a:avLst>
          </a:prstGeom>
          <a:solidFill>
            <a:schemeClr val="accent6"/>
          </a:solidFill>
          <a:ln/>
        </p:spPr>
        <p:txBody>
          <a:bodyPr wrap="square" lIns="508" tIns="508" rIns="508" bIns="508" rtlCol="0" anchor="ctr"/>
          <a:lstStyle/>
          <a:p>
            <a:pPr algn="ctr" indent="0" marL="0">
              <a:buNone/>
            </a:pPr>
            <a:r>
              <a:rPr lang="en-US" sz="1400" b="1" dirty="0">
                <a:solidFill>
                  <a:schemeClr val="bg1"/>
                </a:solidFill>
              </a:rPr>
              <a:t>ExpirySweeper</a:t>
            </a:r>
            <a:endParaRPr lang="en-US" sz="1400" dirty="0"/>
          </a:p>
          <a:p>
            <a:pPr algn="ctr" indent="0" marL="0">
              <a:buNone/>
            </a:pPr>
            <a:r>
              <a:rPr lang="en-US" sz="1400" b="1" dirty="0">
                <a:solidFill>
                  <a:schemeClr val="bg1"/>
                </a:solidFill>
              </a:rPr>
              <a:t>Worker</a:t>
            </a:r>
            <a:endParaRPr lang="en-US" sz="1400" dirty="0"/>
          </a:p>
        </p:txBody>
      </p:sp>
      <p:sp>
        <p:nvSpPr>
          <p:cNvPr id="8" name="Text 6"/>
          <p:cNvSpPr txBox="1"/>
          <p:nvPr/>
        </p:nvSpPr>
        <p:spPr>
          <a:xfrm>
            <a:off x="3291840" y="4434840"/>
            <a:ext cx="1600200" cy="777240"/>
          </a:xfrm>
          <a:prstGeom prst="roundRect">
            <a:avLst>
              <a:gd name="adj" fmla="val 9412"/>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PostgresInventory</a:t>
            </a:r>
            <a:endParaRPr lang="en-US" sz="1400" dirty="0"/>
          </a:p>
          <a:p>
            <a:pPr algn="ctr" indent="0" marL="0">
              <a:buNone/>
            </a:pPr>
            <a:r>
              <a:rPr lang="en-US" sz="1400" b="1" dirty="0">
                <a:solidFill>
                  <a:schemeClr val="bg1"/>
                </a:solidFill>
              </a:rPr>
              <a:t>Repository</a:t>
            </a:r>
            <a:endParaRPr lang="en-US" sz="1400" dirty="0"/>
          </a:p>
        </p:txBody>
      </p:sp>
      <p:sp>
        <p:nvSpPr>
          <p:cNvPr id="9" name="Text 7"/>
          <p:cNvSpPr txBox="1"/>
          <p:nvPr/>
        </p:nvSpPr>
        <p:spPr>
          <a:xfrm>
            <a:off x="4983480" y="4434840"/>
            <a:ext cx="1600200" cy="777240"/>
          </a:xfrm>
          <a:prstGeom prst="roundRect">
            <a:avLst>
              <a:gd name="adj" fmla="val 9412"/>
            </a:avLst>
          </a:prstGeom>
          <a:solidFill>
            <a:schemeClr val="accent2"/>
          </a:solidFill>
          <a:ln/>
        </p:spPr>
        <p:txBody>
          <a:bodyPr wrap="square" lIns="508" tIns="508" rIns="508" bIns="508" rtlCol="0" anchor="ctr"/>
          <a:lstStyle/>
          <a:p>
            <a:pPr algn="ctr" indent="0" marL="0">
              <a:buNone/>
            </a:pPr>
            <a:r>
              <a:rPr lang="en-US" sz="1400" b="1" dirty="0">
                <a:solidFill>
                  <a:schemeClr val="bg1"/>
                </a:solidFill>
              </a:rPr>
              <a:t>PessimisticInventory</a:t>
            </a:r>
            <a:endParaRPr lang="en-US" sz="1400" dirty="0"/>
          </a:p>
          <a:p>
            <a:pPr algn="ctr" indent="0" marL="0">
              <a:buNone/>
            </a:pPr>
            <a:r>
              <a:rPr lang="en-US" sz="1400" b="1" dirty="0">
                <a:solidFill>
                  <a:schemeClr val="bg1"/>
                </a:solidFill>
              </a:rPr>
              <a:t>Repository</a:t>
            </a:r>
            <a:endParaRPr lang="en-US" sz="1400" dirty="0"/>
          </a:p>
        </p:txBody>
      </p:sp>
      <p:sp>
        <p:nvSpPr>
          <p:cNvPr id="10" name="Shape 8"/>
          <p:cNvSpPr/>
          <p:nvPr/>
        </p:nvSpPr>
        <p:spPr>
          <a:xfrm flipH="1">
            <a:off x="1874520" y="2377440"/>
            <a:ext cx="1143000" cy="594360"/>
          </a:xfrm>
          <a:prstGeom prst="line">
            <a:avLst/>
          </a:prstGeom>
          <a:noFill/>
          <a:ln w="25400">
            <a:solidFill>
              <a:schemeClr val="tx2"/>
            </a:solidFill>
            <a:prstDash val="solid"/>
            <a:tailEnd type="triangle"/>
          </a:ln>
        </p:spPr>
      </p:sp>
      <p:sp>
        <p:nvSpPr>
          <p:cNvPr id="11" name="Shape 9"/>
          <p:cNvSpPr/>
          <p:nvPr/>
        </p:nvSpPr>
        <p:spPr>
          <a:xfrm>
            <a:off x="4297680" y="2377440"/>
            <a:ext cx="822960" cy="594360"/>
          </a:xfrm>
          <a:prstGeom prst="line">
            <a:avLst/>
          </a:prstGeom>
          <a:noFill/>
          <a:ln w="25400">
            <a:solidFill>
              <a:schemeClr val="tx2"/>
            </a:solidFill>
            <a:prstDash val="solid"/>
            <a:tailEnd type="triangle"/>
          </a:ln>
        </p:spPr>
      </p:sp>
      <p:sp>
        <p:nvSpPr>
          <p:cNvPr id="12" name="Shape 10"/>
          <p:cNvSpPr/>
          <p:nvPr/>
        </p:nvSpPr>
        <p:spPr>
          <a:xfrm flipH="1">
            <a:off x="4114800" y="3703320"/>
            <a:ext cx="548640" cy="731520"/>
          </a:xfrm>
          <a:prstGeom prst="line">
            <a:avLst/>
          </a:prstGeom>
          <a:noFill/>
          <a:ln w="25400">
            <a:solidFill>
              <a:schemeClr val="accent2"/>
            </a:solidFill>
            <a:prstDash val="solid"/>
            <a:tailEnd type="triangle"/>
          </a:ln>
        </p:spPr>
      </p:sp>
      <p:sp>
        <p:nvSpPr>
          <p:cNvPr id="13" name="Shape 11"/>
          <p:cNvSpPr/>
          <p:nvPr/>
        </p:nvSpPr>
        <p:spPr>
          <a:xfrm>
            <a:off x="5577840" y="3703320"/>
            <a:ext cx="182880" cy="731520"/>
          </a:xfrm>
          <a:prstGeom prst="line">
            <a:avLst/>
          </a:prstGeom>
          <a:noFill/>
          <a:ln w="25400">
            <a:solidFill>
              <a:schemeClr val="accent2"/>
            </a:solidFill>
            <a:prstDash val="solid"/>
            <a:tailEnd type="triangle"/>
          </a:ln>
        </p:spPr>
      </p:sp>
      <p:sp>
        <p:nvSpPr>
          <p:cNvPr id="14" name="Shape 12"/>
          <p:cNvSpPr/>
          <p:nvPr/>
        </p:nvSpPr>
        <p:spPr>
          <a:xfrm flipV="1">
            <a:off x="1874520" y="3703320"/>
            <a:ext cx="0" cy="731520"/>
          </a:xfrm>
          <a:prstGeom prst="line">
            <a:avLst/>
          </a:prstGeom>
          <a:noFill/>
          <a:ln w="25400">
            <a:solidFill>
              <a:schemeClr val="accent6"/>
            </a:solidFill>
            <a:prstDash val="solid"/>
            <a:tailEnd type="triangle"/>
          </a:ln>
        </p:spPr>
      </p:sp>
      <p:sp>
        <p:nvSpPr>
          <p:cNvPr id="15" name="card"/>
          <p:cNvSpPr/>
          <p:nvPr/>
        </p:nvSpPr>
        <p:spPr>
          <a:xfrm>
            <a:off x="7132320" y="1508760"/>
            <a:ext cx="4507992" cy="713232"/>
          </a:xfrm>
          <a:prstGeom prst="roundRect">
            <a:avLst>
              <a:gd name="adj" fmla="val 15385"/>
            </a:avLst>
          </a:prstGeom>
          <a:solidFill>
            <a:schemeClr val="bg1"/>
          </a:solidFill>
          <a:ln/>
          <a:effectLst>
            <a:outerShdw sx="100000" sy="100000" kx="0" ky="0" algn="bl" rotWithShape="0" blurRad="101600" dist="25400" dir="5400000">
              <a:srgbClr val="0B1220">
                <a:alpha val="12000"/>
              </a:srgbClr>
            </a:outerShdw>
          </a:effectLst>
        </p:spPr>
      </p:sp>
      <p:sp>
        <p:nvSpPr>
          <p:cNvPr id="16" name="solid-badge"/>
          <p:cNvSpPr/>
          <p:nvPr/>
        </p:nvSpPr>
        <p:spPr>
          <a:xfrm>
            <a:off x="7269480" y="1636776"/>
            <a:ext cx="457200" cy="457200"/>
          </a:xfrm>
          <a:prstGeom prst="ellipse">
            <a:avLst/>
          </a:prstGeom>
          <a:solidFill>
            <a:schemeClr val="accent1"/>
          </a:solidFill>
          <a:ln/>
        </p:spPr>
      </p:sp>
      <p:sp>
        <p:nvSpPr>
          <p:cNvPr id="17" name="Text 15"/>
          <p:cNvSpPr txBox="1"/>
          <p:nvPr/>
        </p:nvSpPr>
        <p:spPr>
          <a:xfrm>
            <a:off x="7269480" y="1636776"/>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S</a:t>
            </a:r>
            <a:endParaRPr lang="en-US" sz="1800" dirty="0"/>
          </a:p>
        </p:txBody>
      </p:sp>
      <p:sp>
        <p:nvSpPr>
          <p:cNvPr id="18" name="Text 16"/>
          <p:cNvSpPr txBox="1"/>
          <p:nvPr/>
        </p:nvSpPr>
        <p:spPr>
          <a:xfrm>
            <a:off x="7909560" y="1545336"/>
            <a:ext cx="3611880" cy="640080"/>
          </a:xfrm>
          <a:prstGeom prst="rect">
            <a:avLst/>
          </a:prstGeom>
          <a:noFill/>
          <a:ln/>
        </p:spPr>
        <p:txBody>
          <a:bodyPr wrap="square" lIns="0" tIns="0" rIns="0" bIns="0" rtlCol="0" anchor="ctr"/>
          <a:lstStyle/>
          <a:p>
            <a:pPr indent="0" marL="0">
              <a:buNone/>
            </a:pPr>
            <a:r>
              <a:rPr lang="en-US" sz="1400" dirty="0">
                <a:solidFill>
                  <a:schemeClr val="tx1"/>
                </a:solidFill>
              </a:rPr>
              <a:t>ExpirySweeperWorker and PaymentReconciliationWorker each own one job</a:t>
            </a:r>
            <a:endParaRPr lang="en-US" sz="1400" dirty="0"/>
          </a:p>
        </p:txBody>
      </p:sp>
      <p:sp>
        <p:nvSpPr>
          <p:cNvPr id="19" name="card"/>
          <p:cNvSpPr/>
          <p:nvPr/>
        </p:nvSpPr>
        <p:spPr>
          <a:xfrm>
            <a:off x="7132320" y="2304288"/>
            <a:ext cx="4507992" cy="713232"/>
          </a:xfrm>
          <a:prstGeom prst="roundRect">
            <a:avLst>
              <a:gd name="adj" fmla="val 15385"/>
            </a:avLst>
          </a:prstGeom>
          <a:solidFill>
            <a:schemeClr val="bg1"/>
          </a:solidFill>
          <a:ln/>
          <a:effectLst>
            <a:outerShdw sx="100000" sy="100000" kx="0" ky="0" algn="bl" rotWithShape="0" blurRad="101600" dist="25400" dir="5400000">
              <a:srgbClr val="0B1220">
                <a:alpha val="12000"/>
              </a:srgbClr>
            </a:outerShdw>
          </a:effectLst>
        </p:spPr>
      </p:sp>
      <p:sp>
        <p:nvSpPr>
          <p:cNvPr id="20" name="solid-badge"/>
          <p:cNvSpPr/>
          <p:nvPr/>
        </p:nvSpPr>
        <p:spPr>
          <a:xfrm>
            <a:off x="7269480" y="2432304"/>
            <a:ext cx="457200" cy="457200"/>
          </a:xfrm>
          <a:prstGeom prst="ellipse">
            <a:avLst/>
          </a:prstGeom>
          <a:solidFill>
            <a:schemeClr val="accent1"/>
          </a:solidFill>
          <a:ln/>
        </p:spPr>
      </p:sp>
      <p:sp>
        <p:nvSpPr>
          <p:cNvPr id="21" name="Text 19"/>
          <p:cNvSpPr txBox="1"/>
          <p:nvPr/>
        </p:nvSpPr>
        <p:spPr>
          <a:xfrm>
            <a:off x="7269480" y="243230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O</a:t>
            </a:r>
            <a:endParaRPr lang="en-US" sz="1800" dirty="0"/>
          </a:p>
        </p:txBody>
      </p:sp>
      <p:sp>
        <p:nvSpPr>
          <p:cNvPr id="22" name="Text 20"/>
          <p:cNvSpPr txBox="1"/>
          <p:nvPr/>
        </p:nvSpPr>
        <p:spPr>
          <a:xfrm>
            <a:off x="7909560" y="2340864"/>
            <a:ext cx="3611880" cy="640080"/>
          </a:xfrm>
          <a:prstGeom prst="rect">
            <a:avLst/>
          </a:prstGeom>
          <a:noFill/>
          <a:ln/>
        </p:spPr>
        <p:txBody>
          <a:bodyPr wrap="square" lIns="0" tIns="0" rIns="0" bIns="0" rtlCol="0" anchor="ctr"/>
          <a:lstStyle/>
          <a:p>
            <a:pPr indent="0" marL="0">
              <a:buNone/>
            </a:pPr>
            <a:r>
              <a:rPr lang="en-US" sz="1400" dirty="0">
                <a:solidFill>
                  <a:schemeClr val="tx1"/>
                </a:solidFill>
              </a:rPr>
              <a:t>A new payment provider is a new adapter behind PaymentGatewayFactory</a:t>
            </a:r>
            <a:endParaRPr lang="en-US" sz="1400" dirty="0"/>
          </a:p>
        </p:txBody>
      </p:sp>
      <p:sp>
        <p:nvSpPr>
          <p:cNvPr id="23" name="card"/>
          <p:cNvSpPr/>
          <p:nvPr/>
        </p:nvSpPr>
        <p:spPr>
          <a:xfrm>
            <a:off x="7132320" y="3099816"/>
            <a:ext cx="4507992" cy="713232"/>
          </a:xfrm>
          <a:prstGeom prst="roundRect">
            <a:avLst>
              <a:gd name="adj" fmla="val 15385"/>
            </a:avLst>
          </a:prstGeom>
          <a:solidFill>
            <a:schemeClr val="bg1"/>
          </a:solidFill>
          <a:ln/>
          <a:effectLst>
            <a:outerShdw sx="100000" sy="100000" kx="0" ky="0" algn="bl" rotWithShape="0" blurRad="101600" dist="25400" dir="5400000">
              <a:srgbClr val="0B1220">
                <a:alpha val="12000"/>
              </a:srgbClr>
            </a:outerShdw>
          </a:effectLst>
        </p:spPr>
      </p:sp>
      <p:sp>
        <p:nvSpPr>
          <p:cNvPr id="24" name="solid-badge"/>
          <p:cNvSpPr/>
          <p:nvPr/>
        </p:nvSpPr>
        <p:spPr>
          <a:xfrm>
            <a:off x="7269480" y="3227832"/>
            <a:ext cx="457200" cy="457200"/>
          </a:xfrm>
          <a:prstGeom prst="ellipse">
            <a:avLst/>
          </a:prstGeom>
          <a:solidFill>
            <a:schemeClr val="accent1"/>
          </a:solidFill>
          <a:ln/>
        </p:spPr>
      </p:sp>
      <p:sp>
        <p:nvSpPr>
          <p:cNvPr id="25" name="Text 23"/>
          <p:cNvSpPr txBox="1"/>
          <p:nvPr/>
        </p:nvSpPr>
        <p:spPr>
          <a:xfrm>
            <a:off x="7269480" y="322783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L</a:t>
            </a:r>
            <a:endParaRPr lang="en-US" sz="1800" dirty="0"/>
          </a:p>
        </p:txBody>
      </p:sp>
      <p:sp>
        <p:nvSpPr>
          <p:cNvPr id="26" name="Text 24"/>
          <p:cNvSpPr txBox="1"/>
          <p:nvPr/>
        </p:nvSpPr>
        <p:spPr>
          <a:xfrm>
            <a:off x="7909560" y="3136392"/>
            <a:ext cx="3611880" cy="640080"/>
          </a:xfrm>
          <a:prstGeom prst="rect">
            <a:avLst/>
          </a:prstGeom>
          <a:noFill/>
          <a:ln/>
        </p:spPr>
        <p:txBody>
          <a:bodyPr wrap="square" lIns="0" tIns="0" rIns="0" bIns="0" rtlCol="0" anchor="ctr"/>
          <a:lstStyle/>
          <a:p>
            <a:pPr indent="0" marL="0">
              <a:buNone/>
            </a:pPr>
            <a:r>
              <a:rPr lang="en-US" sz="1400" dirty="0">
                <a:solidFill>
                  <a:schemeClr val="tx1"/>
                </a:solidFill>
              </a:rPr>
              <a:t>PessimisticInventoryRepository can replace the Postgres one</a:t>
            </a:r>
            <a:endParaRPr lang="en-US" sz="1400" dirty="0"/>
          </a:p>
        </p:txBody>
      </p:sp>
      <p:sp>
        <p:nvSpPr>
          <p:cNvPr id="27" name="card"/>
          <p:cNvSpPr/>
          <p:nvPr/>
        </p:nvSpPr>
        <p:spPr>
          <a:xfrm>
            <a:off x="7132320" y="3895344"/>
            <a:ext cx="4507992" cy="713232"/>
          </a:xfrm>
          <a:prstGeom prst="roundRect">
            <a:avLst>
              <a:gd name="adj" fmla="val 15385"/>
            </a:avLst>
          </a:prstGeom>
          <a:solidFill>
            <a:schemeClr val="bg1"/>
          </a:solidFill>
          <a:ln/>
          <a:effectLst>
            <a:outerShdw sx="100000" sy="100000" kx="0" ky="0" algn="bl" rotWithShape="0" blurRad="101600" dist="25400" dir="5400000">
              <a:srgbClr val="0B1220">
                <a:alpha val="12000"/>
              </a:srgbClr>
            </a:outerShdw>
          </a:effectLst>
        </p:spPr>
      </p:sp>
      <p:sp>
        <p:nvSpPr>
          <p:cNvPr id="28" name="solid-badge"/>
          <p:cNvSpPr/>
          <p:nvPr/>
        </p:nvSpPr>
        <p:spPr>
          <a:xfrm>
            <a:off x="7269480" y="4023360"/>
            <a:ext cx="457200" cy="457200"/>
          </a:xfrm>
          <a:prstGeom prst="ellipse">
            <a:avLst/>
          </a:prstGeom>
          <a:solidFill>
            <a:schemeClr val="accent1"/>
          </a:solidFill>
          <a:ln/>
        </p:spPr>
      </p:sp>
      <p:sp>
        <p:nvSpPr>
          <p:cNvPr id="29" name="Text 27"/>
          <p:cNvSpPr txBox="1"/>
          <p:nvPr/>
        </p:nvSpPr>
        <p:spPr>
          <a:xfrm>
            <a:off x="7269480" y="402336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I</a:t>
            </a:r>
            <a:endParaRPr lang="en-US" sz="1800" dirty="0"/>
          </a:p>
        </p:txBody>
      </p:sp>
      <p:sp>
        <p:nvSpPr>
          <p:cNvPr id="30" name="Text 28"/>
          <p:cNvSpPr txBox="1"/>
          <p:nvPr/>
        </p:nvSpPr>
        <p:spPr>
          <a:xfrm>
            <a:off x="7909560" y="3931920"/>
            <a:ext cx="3611880" cy="640080"/>
          </a:xfrm>
          <a:prstGeom prst="rect">
            <a:avLst/>
          </a:prstGeom>
          <a:noFill/>
          <a:ln/>
        </p:spPr>
        <p:txBody>
          <a:bodyPr wrap="square" lIns="0" tIns="0" rIns="0" bIns="0" rtlCol="0" anchor="ctr"/>
          <a:lstStyle/>
          <a:p>
            <a:pPr indent="0" marL="0">
              <a:buNone/>
            </a:pPr>
            <a:r>
              <a:rPr lang="en-US" sz="1400" dirty="0">
                <a:solidFill>
                  <a:schemeClr val="tx1"/>
                </a:solidFill>
              </a:rPr>
              <a:t>One repository per aggregate, not one large interface</a:t>
            </a:r>
            <a:endParaRPr lang="en-US" sz="1400" dirty="0"/>
          </a:p>
        </p:txBody>
      </p:sp>
      <p:sp>
        <p:nvSpPr>
          <p:cNvPr id="31" name="card"/>
          <p:cNvSpPr/>
          <p:nvPr/>
        </p:nvSpPr>
        <p:spPr>
          <a:xfrm>
            <a:off x="7132320" y="4690872"/>
            <a:ext cx="4507992" cy="713232"/>
          </a:xfrm>
          <a:prstGeom prst="roundRect">
            <a:avLst>
              <a:gd name="adj" fmla="val 15385"/>
            </a:avLst>
          </a:prstGeom>
          <a:solidFill>
            <a:schemeClr val="bg1"/>
          </a:solidFill>
          <a:ln/>
          <a:effectLst>
            <a:outerShdw sx="100000" sy="100000" kx="0" ky="0" algn="bl" rotWithShape="0" blurRad="101600" dist="25400" dir="5400000">
              <a:srgbClr val="0B1220">
                <a:alpha val="12000"/>
              </a:srgbClr>
            </a:outerShdw>
          </a:effectLst>
        </p:spPr>
      </p:sp>
      <p:sp>
        <p:nvSpPr>
          <p:cNvPr id="32" name="solid-badge"/>
          <p:cNvSpPr/>
          <p:nvPr/>
        </p:nvSpPr>
        <p:spPr>
          <a:xfrm>
            <a:off x="7269480" y="4818888"/>
            <a:ext cx="457200" cy="457200"/>
          </a:xfrm>
          <a:prstGeom prst="ellipse">
            <a:avLst/>
          </a:prstGeom>
          <a:solidFill>
            <a:schemeClr val="accent1"/>
          </a:solidFill>
          <a:ln/>
        </p:spPr>
      </p:sp>
      <p:sp>
        <p:nvSpPr>
          <p:cNvPr id="33" name="Text 31"/>
          <p:cNvSpPr txBox="1"/>
          <p:nvPr/>
        </p:nvSpPr>
        <p:spPr>
          <a:xfrm>
            <a:off x="7269480" y="481888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rPr>
              <a:t>D</a:t>
            </a:r>
            <a:endParaRPr lang="en-US" sz="1800" dirty="0"/>
          </a:p>
        </p:txBody>
      </p:sp>
      <p:sp>
        <p:nvSpPr>
          <p:cNvPr id="34" name="Text 32"/>
          <p:cNvSpPr txBox="1"/>
          <p:nvPr/>
        </p:nvSpPr>
        <p:spPr>
          <a:xfrm>
            <a:off x="7909560" y="4727448"/>
            <a:ext cx="3611880" cy="640080"/>
          </a:xfrm>
          <a:prstGeom prst="rect">
            <a:avLst/>
          </a:prstGeom>
          <a:noFill/>
          <a:ln/>
        </p:spPr>
        <p:txBody>
          <a:bodyPr wrap="square" lIns="0" tIns="0" rIns="0" bIns="0" rtlCol="0" anchor="ctr"/>
          <a:lstStyle/>
          <a:p>
            <a:pPr indent="0" marL="0">
              <a:buNone/>
            </a:pPr>
            <a:r>
              <a:rPr lang="en-US" sz="1400" dirty="0">
                <a:solidFill>
                  <a:schemeClr val="tx1"/>
                </a:solidFill>
              </a:rPr>
              <a:t>Services depend on interfaces such as IInventoryRepository</a:t>
            </a:r>
            <a:endParaRPr lang="en-US" sz="1400" dirty="0"/>
          </a:p>
        </p:txBody>
      </p:sp>
      <p:sp>
        <p:nvSpPr>
          <p:cNvPr id="35" name="Text 33"/>
          <p:cNvSpPr txBox="1"/>
          <p:nvPr/>
        </p:nvSpPr>
        <p:spPr>
          <a:xfrm>
            <a:off x="548640" y="5715000"/>
            <a:ext cx="1280160" cy="502920"/>
          </a:xfrm>
          <a:prstGeom prst="rect">
            <a:avLst/>
          </a:prstGeom>
          <a:noFill/>
          <a:ln/>
        </p:spPr>
        <p:txBody>
          <a:bodyPr wrap="square" lIns="0" tIns="0" rIns="0" bIns="0" rtlCol="0" anchor="ctr"/>
          <a:lstStyle/>
          <a:p>
            <a:pPr indent="0" marL="0">
              <a:buNone/>
            </a:pPr>
            <a:r>
              <a:rPr lang="en-US" sz="1600" b="1" dirty="0">
                <a:solidFill>
                  <a:schemeClr val="tx1"/>
                </a:solidFill>
              </a:rPr>
              <a:t>8 patterns</a:t>
            </a:r>
            <a:endParaRPr lang="en-US" sz="1600" dirty="0"/>
          </a:p>
        </p:txBody>
      </p:sp>
      <p:sp>
        <p:nvSpPr>
          <p:cNvPr id="36" name="Text 34"/>
          <p:cNvSpPr txBox="1"/>
          <p:nvPr/>
        </p:nvSpPr>
        <p:spPr>
          <a:xfrm>
            <a:off x="1920240" y="5760720"/>
            <a:ext cx="105156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Strategy</a:t>
            </a:r>
            <a:endParaRPr lang="en-US" sz="1200" dirty="0"/>
          </a:p>
        </p:txBody>
      </p:sp>
      <p:sp>
        <p:nvSpPr>
          <p:cNvPr id="37" name="Text 35"/>
          <p:cNvSpPr txBox="1"/>
          <p:nvPr/>
        </p:nvSpPr>
        <p:spPr>
          <a:xfrm>
            <a:off x="3081528" y="5760720"/>
            <a:ext cx="100584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Factory</a:t>
            </a:r>
            <a:endParaRPr lang="en-US" sz="1200" dirty="0"/>
          </a:p>
        </p:txBody>
      </p:sp>
      <p:sp>
        <p:nvSpPr>
          <p:cNvPr id="38" name="Text 36"/>
          <p:cNvSpPr txBox="1"/>
          <p:nvPr/>
        </p:nvSpPr>
        <p:spPr>
          <a:xfrm>
            <a:off x="4197096" y="5760720"/>
            <a:ext cx="86868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State</a:t>
            </a:r>
            <a:endParaRPr lang="en-US" sz="1200" dirty="0"/>
          </a:p>
        </p:txBody>
      </p:sp>
      <p:sp>
        <p:nvSpPr>
          <p:cNvPr id="39" name="Text 37"/>
          <p:cNvSpPr txBox="1"/>
          <p:nvPr/>
        </p:nvSpPr>
        <p:spPr>
          <a:xfrm>
            <a:off x="5175504" y="5760720"/>
            <a:ext cx="109728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Observer</a:t>
            </a:r>
            <a:endParaRPr lang="en-US" sz="1200" dirty="0"/>
          </a:p>
        </p:txBody>
      </p:sp>
      <p:sp>
        <p:nvSpPr>
          <p:cNvPr id="40" name="Text 38"/>
          <p:cNvSpPr txBox="1"/>
          <p:nvPr/>
        </p:nvSpPr>
        <p:spPr>
          <a:xfrm>
            <a:off x="6382512" y="5760720"/>
            <a:ext cx="105156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Adapter</a:t>
            </a:r>
            <a:endParaRPr lang="en-US" sz="1200" dirty="0"/>
          </a:p>
        </p:txBody>
      </p:sp>
      <p:sp>
        <p:nvSpPr>
          <p:cNvPr id="41" name="Text 39"/>
          <p:cNvSpPr txBox="1"/>
          <p:nvPr/>
        </p:nvSpPr>
        <p:spPr>
          <a:xfrm>
            <a:off x="7543800" y="5760720"/>
            <a:ext cx="100584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Facade</a:t>
            </a:r>
            <a:endParaRPr lang="en-US" sz="1200" dirty="0"/>
          </a:p>
        </p:txBody>
      </p:sp>
      <p:sp>
        <p:nvSpPr>
          <p:cNvPr id="42" name="Text 40"/>
          <p:cNvSpPr txBox="1"/>
          <p:nvPr/>
        </p:nvSpPr>
        <p:spPr>
          <a:xfrm>
            <a:off x="8659368" y="5760720"/>
            <a:ext cx="128016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Repository</a:t>
            </a:r>
            <a:endParaRPr lang="en-US" sz="1200" dirty="0"/>
          </a:p>
        </p:txBody>
      </p:sp>
      <p:sp>
        <p:nvSpPr>
          <p:cNvPr id="43" name="Text 41"/>
          <p:cNvSpPr txBox="1"/>
          <p:nvPr/>
        </p:nvSpPr>
        <p:spPr>
          <a:xfrm>
            <a:off x="10049256" y="5760720"/>
            <a:ext cx="1554480" cy="411480"/>
          </a:xfrm>
          <a:prstGeom prst="roundRect">
            <a:avLst>
              <a:gd name="adj" fmla="val 22222"/>
            </a:avLst>
          </a:prstGeom>
          <a:solidFill>
            <a:schemeClr val="tx2"/>
          </a:solidFill>
          <a:ln/>
        </p:spPr>
        <p:txBody>
          <a:bodyPr wrap="square" lIns="0" tIns="0" rIns="0" bIns="0" rtlCol="0" anchor="ctr"/>
          <a:lstStyle/>
          <a:p>
            <a:pPr algn="ctr" indent="0" marL="0">
              <a:buNone/>
            </a:pPr>
            <a:r>
              <a:rPr lang="en-US" sz="1200" b="1" dirty="0">
                <a:solidFill>
                  <a:schemeClr val="bg1"/>
                </a:solidFill>
              </a:rPr>
              <a:t>Circuit Breaker</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Built to survive 50x traffic and failures</a:t>
            </a:r>
            <a:endParaRPr lang="en-US" sz="3400" dirty="0"/>
          </a:p>
        </p:txBody>
      </p:sp>
      <p:sp>
        <p:nvSpPr>
          <p:cNvPr id="3" name="card"/>
          <p:cNvSpPr/>
          <p:nvPr/>
        </p:nvSpPr>
        <p:spPr>
          <a:xfrm>
            <a:off x="548640" y="1508760"/>
            <a:ext cx="3511296" cy="4206240"/>
          </a:xfrm>
          <a:prstGeom prst="roundRect">
            <a:avLst>
              <a:gd name="adj" fmla="val 3125"/>
            </a:avLst>
          </a:prstGeom>
          <a:solidFill>
            <a:schemeClr val="bg1"/>
          </a:solidFill>
          <a:ln/>
          <a:effectLst>
            <a:outerShdw sx="100000" sy="100000" kx="0" ky="0" algn="bl" rotWithShape="0" blurRad="101600" dist="25400" dir="5400000">
              <a:srgbClr val="0B1220">
                <a:alpha val="12000"/>
              </a:srgbClr>
            </a:outerShdw>
          </a:effectLst>
        </p:spPr>
      </p:sp>
      <p:sp>
        <p:nvSpPr>
          <p:cNvPr id="4" name="icon-circle"/>
          <p:cNvSpPr/>
          <p:nvPr/>
        </p:nvSpPr>
        <p:spPr>
          <a:xfrm>
            <a:off x="822960" y="1783080"/>
            <a:ext cx="594360" cy="594360"/>
          </a:xfrm>
          <a:prstGeom prst="ellipse">
            <a:avLst/>
          </a:prstGeom>
          <a:solidFill>
            <a:schemeClr val="accent2"/>
          </a:solidFill>
          <a:ln/>
        </p:spPr>
      </p:sp>
      <p:pic>
        <p:nvPicPr>
          <p:cNvPr id="5" name="Image 0" descr="FaRocket">    </p:cNvPr>
          <p:cNvPicPr>
            <a:picLocks noChangeAspect="1"/>
          </p:cNvPicPr>
          <p:nvPr/>
        </p:nvPicPr>
        <p:blipFill>
          <a:blip r:embed="rId1"/>
          <a:stretch>
            <a:fillRect/>
          </a:stretch>
        </p:blipFill>
        <p:spPr>
          <a:xfrm>
            <a:off x="977494" y="1937614"/>
            <a:ext cx="285293" cy="285293"/>
          </a:xfrm>
          <a:prstGeom prst="rect">
            <a:avLst/>
          </a:prstGeom>
        </p:spPr>
      </p:pic>
      <p:sp>
        <p:nvSpPr>
          <p:cNvPr id="6" name="Text 3"/>
          <p:cNvSpPr txBox="1"/>
          <p:nvPr/>
        </p:nvSpPr>
        <p:spPr>
          <a:xfrm>
            <a:off x="1554480" y="1783080"/>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At 50x traffic</a:t>
            </a:r>
            <a:endParaRPr lang="en-US" sz="2000" dirty="0"/>
          </a:p>
        </p:txBody>
      </p:sp>
      <p:sp>
        <p:nvSpPr>
          <p:cNvPr id="7" name="Text 4"/>
          <p:cNvSpPr txBox="1"/>
          <p:nvPr/>
        </p:nvSpPr>
        <p:spPr>
          <a:xfrm>
            <a:off x="822960" y="2697480"/>
            <a:ext cx="3017520" cy="640080"/>
          </a:xfrm>
          <a:prstGeom prst="rect">
            <a:avLst/>
          </a:prstGeom>
          <a:noFill/>
          <a:ln/>
        </p:spPr>
        <p:txBody>
          <a:bodyPr wrap="square" lIns="0" tIns="0" rIns="0" bIns="0" rtlCol="0" anchor="t"/>
          <a:lstStyle/>
          <a:p>
            <a:pPr indent="0" marL="0">
              <a:buNone/>
            </a:pPr>
            <a:r>
              <a:rPr lang="en-US" sz="3000" b="1" dirty="0">
                <a:solidFill>
                  <a:schemeClr val="accent2"/>
                </a:solidFill>
              </a:rPr>
              <a:t>500,000 req/s</a:t>
            </a:r>
            <a:endParaRPr lang="en-US" sz="3000" dirty="0"/>
          </a:p>
        </p:txBody>
      </p:sp>
      <p:sp>
        <p:nvSpPr>
          <p:cNvPr id="8" name="Text 5"/>
          <p:cNvSpPr txBox="1"/>
          <p:nvPr/>
        </p:nvSpPr>
        <p:spPr>
          <a:xfrm>
            <a:off x="822960" y="361188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CDN absorbs about 99% of catalog reads</a:t>
            </a:r>
            <a:endParaRPr lang="en-US" sz="1400" dirty="0"/>
          </a:p>
          <a:p>
            <a:pPr marL="342900" indent="-342900">
              <a:spcAft>
                <a:spcPts val="800"/>
              </a:spcAft>
              <a:buSzPct val="100000"/>
              <a:buChar char="•"/>
            </a:pPr>
            <a:r>
              <a:rPr lang="en-US" sz="1400" dirty="0">
                <a:solidFill>
                  <a:schemeClr val="tx1"/>
                </a:solidFill>
              </a:rPr>
              <a:t>Waiting room meters the flood to 10-20k/s</a:t>
            </a:r>
            <a:endParaRPr lang="en-US" sz="1400" dirty="0"/>
          </a:p>
          <a:p>
            <a:pPr marL="342900" indent="-342900">
              <a:spcAft>
                <a:spcPts val="800"/>
              </a:spcAft>
              <a:buSzPct val="100000"/>
              <a:buChar char="•"/>
            </a:pPr>
            <a:r>
              <a:rPr lang="en-US" sz="1400" dirty="0">
                <a:solidFill>
                  <a:schemeClr val="tx1"/>
                </a:solidFill>
              </a:rPr>
              <a:t>100 units sharded into 10 Redis buckets of 10, with ring-probe fallback</a:t>
            </a:r>
            <a:endParaRPr lang="en-US" sz="1400" dirty="0"/>
          </a:p>
        </p:txBody>
      </p:sp>
      <p:sp>
        <p:nvSpPr>
          <p:cNvPr id="9" name="card"/>
          <p:cNvSpPr/>
          <p:nvPr/>
        </p:nvSpPr>
        <p:spPr>
          <a:xfrm>
            <a:off x="4338828" y="1508760"/>
            <a:ext cx="3511296" cy="4206240"/>
          </a:xfrm>
          <a:prstGeom prst="roundRect">
            <a:avLst>
              <a:gd name="adj" fmla="val 3125"/>
            </a:avLst>
          </a:prstGeom>
          <a:solidFill>
            <a:schemeClr val="bg1"/>
          </a:solidFill>
          <a:ln/>
          <a:effectLst>
            <a:outerShdw sx="100000" sy="100000" kx="0" ky="0" algn="bl" rotWithShape="0" blurRad="101600" dist="25400" dir="5400000">
              <a:srgbClr val="0B1220">
                <a:alpha val="12000"/>
              </a:srgbClr>
            </a:outerShdw>
          </a:effectLst>
        </p:spPr>
      </p:sp>
      <p:sp>
        <p:nvSpPr>
          <p:cNvPr id="10" name="icon-circle"/>
          <p:cNvSpPr/>
          <p:nvPr/>
        </p:nvSpPr>
        <p:spPr>
          <a:xfrm>
            <a:off x="4613148" y="1783080"/>
            <a:ext cx="594360" cy="594360"/>
          </a:xfrm>
          <a:prstGeom prst="ellipse">
            <a:avLst/>
          </a:prstGeom>
          <a:solidFill>
            <a:schemeClr val="accent5"/>
          </a:solidFill>
          <a:ln/>
        </p:spPr>
      </p:sp>
      <p:pic>
        <p:nvPicPr>
          <p:cNvPr id="11" name="Image 1" descr="FaShieldAlt">    </p:cNvPr>
          <p:cNvPicPr>
            <a:picLocks noChangeAspect="1"/>
          </p:cNvPicPr>
          <p:nvPr/>
        </p:nvPicPr>
        <p:blipFill>
          <a:blip r:embed="rId2"/>
          <a:stretch>
            <a:fillRect/>
          </a:stretch>
        </p:blipFill>
        <p:spPr>
          <a:xfrm>
            <a:off x="4767682" y="1937614"/>
            <a:ext cx="285293" cy="285293"/>
          </a:xfrm>
          <a:prstGeom prst="rect">
            <a:avLst/>
          </a:prstGeom>
        </p:spPr>
      </p:pic>
      <p:sp>
        <p:nvSpPr>
          <p:cNvPr id="12" name="Text 8"/>
          <p:cNvSpPr txBox="1"/>
          <p:nvPr/>
        </p:nvSpPr>
        <p:spPr>
          <a:xfrm>
            <a:off x="5344668" y="1783080"/>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When things fail</a:t>
            </a:r>
            <a:endParaRPr lang="en-US" sz="2000" dirty="0"/>
          </a:p>
        </p:txBody>
      </p:sp>
      <p:sp>
        <p:nvSpPr>
          <p:cNvPr id="13" name="Text 9"/>
          <p:cNvSpPr txBox="1"/>
          <p:nvPr/>
        </p:nvSpPr>
        <p:spPr>
          <a:xfrm>
            <a:off x="4613148" y="2697480"/>
            <a:ext cx="3017520" cy="640080"/>
          </a:xfrm>
          <a:prstGeom prst="rect">
            <a:avLst/>
          </a:prstGeom>
          <a:noFill/>
          <a:ln/>
        </p:spPr>
        <p:txBody>
          <a:bodyPr wrap="square" lIns="0" tIns="0" rIns="0" bIns="0" rtlCol="0" anchor="t"/>
          <a:lstStyle/>
          <a:p>
            <a:pPr indent="0" marL="0">
              <a:buNone/>
            </a:pPr>
            <a:r>
              <a:rPr lang="en-US" sz="3000" b="1" dirty="0">
                <a:solidFill>
                  <a:schemeClr val="accent2"/>
                </a:solidFill>
              </a:rPr>
              <a:t>RPO 0, RTO &lt; 30 s</a:t>
            </a:r>
            <a:endParaRPr lang="en-US" sz="3000" dirty="0"/>
          </a:p>
        </p:txBody>
      </p:sp>
      <p:sp>
        <p:nvSpPr>
          <p:cNvPr id="14" name="Text 10"/>
          <p:cNvSpPr txBox="1"/>
          <p:nvPr/>
        </p:nvSpPr>
        <p:spPr>
          <a:xfrm>
            <a:off x="4613148" y="361188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Sync standby takes over if the database fails</a:t>
            </a:r>
            <a:endParaRPr lang="en-US" sz="1400" dirty="0"/>
          </a:p>
          <a:p>
            <a:pPr marL="342900" indent="-342900">
              <a:spcAft>
                <a:spcPts val="800"/>
              </a:spcAft>
              <a:buSzPct val="100000"/>
              <a:buChar char="•"/>
            </a:pPr>
            <a:r>
              <a:rPr lang="en-US" sz="1400" dirty="0">
                <a:solidFill>
                  <a:schemeClr val="tx1"/>
                </a:solidFill>
              </a:rPr>
              <a:t>Circuit breaker and reconciliation if the gateway fails</a:t>
            </a:r>
            <a:endParaRPr lang="en-US" sz="1400" dirty="0"/>
          </a:p>
          <a:p>
            <a:pPr marL="342900" indent="-342900">
              <a:spcAft>
                <a:spcPts val="800"/>
              </a:spcAft>
              <a:buSzPct val="100000"/>
              <a:buChar char="•"/>
            </a:pPr>
            <a:r>
              <a:rPr lang="en-US" sz="1400" dirty="0">
                <a:solidFill>
                  <a:schemeClr val="tx1"/>
                </a:solidFill>
              </a:rPr>
              <a:t>Redis restart: single-flight reseed from PostgreSQL</a:t>
            </a:r>
            <a:endParaRPr lang="en-US" sz="1400" dirty="0"/>
          </a:p>
        </p:txBody>
      </p:sp>
      <p:sp>
        <p:nvSpPr>
          <p:cNvPr id="15" name="card"/>
          <p:cNvSpPr/>
          <p:nvPr/>
        </p:nvSpPr>
        <p:spPr>
          <a:xfrm>
            <a:off x="8129016" y="1508760"/>
            <a:ext cx="3511296" cy="4206240"/>
          </a:xfrm>
          <a:prstGeom prst="roundRect">
            <a:avLst>
              <a:gd name="adj" fmla="val 3125"/>
            </a:avLst>
          </a:prstGeom>
          <a:solidFill>
            <a:schemeClr val="tx2"/>
          </a:solidFill>
          <a:ln/>
        </p:spPr>
      </p:sp>
      <p:sp>
        <p:nvSpPr>
          <p:cNvPr id="16" name="icon-circle"/>
          <p:cNvSpPr/>
          <p:nvPr/>
        </p:nvSpPr>
        <p:spPr>
          <a:xfrm>
            <a:off x="8403336" y="1783080"/>
            <a:ext cx="594360" cy="594360"/>
          </a:xfrm>
          <a:prstGeom prst="ellipse">
            <a:avLst/>
          </a:prstGeom>
          <a:solidFill>
            <a:schemeClr val="accent1"/>
          </a:solidFill>
          <a:ln/>
        </p:spPr>
      </p:sp>
      <p:pic>
        <p:nvPicPr>
          <p:cNvPr id="17" name="Image 2" descr="FaFlask">    </p:cNvPr>
          <p:cNvPicPr>
            <a:picLocks noChangeAspect="1"/>
          </p:cNvPicPr>
          <p:nvPr/>
        </p:nvPicPr>
        <p:blipFill>
          <a:blip r:embed="rId3"/>
          <a:stretch>
            <a:fillRect/>
          </a:stretch>
        </p:blipFill>
        <p:spPr>
          <a:xfrm>
            <a:off x="8557870" y="1937614"/>
            <a:ext cx="285293" cy="285293"/>
          </a:xfrm>
          <a:prstGeom prst="rect">
            <a:avLst/>
          </a:prstGeom>
        </p:spPr>
      </p:pic>
      <p:sp>
        <p:nvSpPr>
          <p:cNvPr id="18" name="Text 13"/>
          <p:cNvSpPr txBox="1"/>
          <p:nvPr/>
        </p:nvSpPr>
        <p:spPr>
          <a:xfrm>
            <a:off x="9134856" y="1783080"/>
            <a:ext cx="2286000" cy="594360"/>
          </a:xfrm>
          <a:prstGeom prst="rect">
            <a:avLst/>
          </a:prstGeom>
          <a:noFill/>
          <a:ln/>
        </p:spPr>
        <p:txBody>
          <a:bodyPr wrap="square" lIns="0" tIns="0" rIns="0" bIns="0" rtlCol="0" anchor="ctr"/>
          <a:lstStyle/>
          <a:p>
            <a:pPr indent="0" marL="0">
              <a:buNone/>
            </a:pPr>
            <a:r>
              <a:rPr lang="en-US" sz="2000" b="1" dirty="0">
                <a:solidFill>
                  <a:schemeClr val="bg1"/>
                </a:solidFill>
              </a:rPr>
              <a:t>Simulation result</a:t>
            </a:r>
            <a:endParaRPr lang="en-US" sz="2000" dirty="0"/>
          </a:p>
        </p:txBody>
      </p:sp>
      <p:sp>
        <p:nvSpPr>
          <p:cNvPr id="19" name="Text 14"/>
          <p:cNvSpPr txBox="1"/>
          <p:nvPr/>
        </p:nvSpPr>
        <p:spPr>
          <a:xfrm>
            <a:off x="8403336" y="2697480"/>
            <a:ext cx="3017520" cy="640080"/>
          </a:xfrm>
          <a:prstGeom prst="rect">
            <a:avLst/>
          </a:prstGeom>
          <a:noFill/>
          <a:ln/>
        </p:spPr>
        <p:txBody>
          <a:bodyPr wrap="square" lIns="0" tIns="0" rIns="0" bIns="0" rtlCol="0" anchor="t"/>
          <a:lstStyle/>
          <a:p>
            <a:pPr indent="0" marL="0">
              <a:buNone/>
            </a:pPr>
            <a:r>
              <a:rPr lang="en-US" sz="3000" b="1" dirty="0">
                <a:solidFill>
                  <a:schemeClr val="accent1"/>
                </a:solidFill>
              </a:rPr>
              <a:t>100 / 100 sold</a:t>
            </a:r>
            <a:endParaRPr lang="en-US" sz="3000" dirty="0"/>
          </a:p>
        </p:txBody>
      </p:sp>
      <p:sp>
        <p:nvSpPr>
          <p:cNvPr id="20" name="Text 15"/>
          <p:cNvSpPr txBox="1"/>
          <p:nvPr/>
        </p:nvSpPr>
        <p:spPr>
          <a:xfrm>
            <a:off x="8403336" y="361188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10,212 requests, 0 violations in 39 snapshots</a:t>
            </a:r>
            <a:endParaRPr lang="en-US" sz="1400" dirty="0"/>
          </a:p>
          <a:p>
            <a:pPr marL="342900" indent="-342900">
              <a:spcAft>
                <a:spcPts val="800"/>
              </a:spcAft>
              <a:buSzPct val="100000"/>
              <a:buChar char="•"/>
            </a:pPr>
            <a:r>
              <a:rPr lang="en-US" sz="1400" dirty="0">
                <a:solidFill>
                  <a:schemeClr val="bg1"/>
                </a:solidFill>
              </a:rPr>
              <a:t>100 orders confirmed after the 30 s outage</a:t>
            </a:r>
            <a:endParaRPr lang="en-US" sz="1400" dirty="0"/>
          </a:p>
          <a:p>
            <a:pPr marL="342900" indent="-342900">
              <a:spcAft>
                <a:spcPts val="800"/>
              </a:spcAft>
              <a:buSzPct val="100000"/>
              <a:buChar char="•"/>
            </a:pPr>
            <a:r>
              <a:rPr lang="en-US" sz="1400" dirty="0">
                <a:solidFill>
                  <a:schemeClr val="bg1"/>
                </a:solidFill>
              </a:rPr>
              <a:t>Python and SQLite, finished in 0.878 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bg1"/>
                </a:solidFill>
              </a:rPr>
              <a:t>What we sacrificed, and why it pays off</a:t>
            </a:r>
            <a:endParaRPr lang="en-US" sz="3400" dirty="0"/>
          </a:p>
        </p:txBody>
      </p:sp>
      <p:sp>
        <p:nvSpPr>
          <p:cNvPr id="3" name="tradeoff-row"/>
          <p:cNvSpPr/>
          <p:nvPr/>
        </p:nvSpPr>
        <p:spPr>
          <a:xfrm>
            <a:off x="548640" y="1554480"/>
            <a:ext cx="11091672" cy="941832"/>
          </a:xfrm>
          <a:prstGeom prst="roundRect">
            <a:avLst>
              <a:gd name="adj" fmla="val 11650"/>
            </a:avLst>
          </a:prstGeom>
          <a:solidFill>
            <a:schemeClr val="tx2"/>
          </a:solidFill>
          <a:ln/>
        </p:spPr>
      </p:sp>
      <p:sp>
        <p:nvSpPr>
          <p:cNvPr id="4" name="Text 2"/>
          <p:cNvSpPr txBox="1"/>
          <p:nvPr/>
        </p:nvSpPr>
        <p:spPr>
          <a:xfrm>
            <a:off x="822960" y="1554480"/>
            <a:ext cx="2926080" cy="941832"/>
          </a:xfrm>
          <a:prstGeom prst="rect">
            <a:avLst/>
          </a:prstGeom>
          <a:noFill/>
          <a:ln/>
        </p:spPr>
        <p:txBody>
          <a:bodyPr wrap="square" lIns="0" tIns="0" rIns="0" bIns="0" rtlCol="0" anchor="ctr"/>
          <a:lstStyle/>
          <a:p>
            <a:pPr indent="0" marL="0">
              <a:buNone/>
            </a:pPr>
            <a:r>
              <a:rPr lang="en-US" sz="2000" b="1" dirty="0">
                <a:solidFill>
                  <a:schemeClr val="accent1"/>
                </a:solidFill>
              </a:rPr>
              <a:t>More moving parts</a:t>
            </a:r>
            <a:endParaRPr lang="en-US" sz="2000" dirty="0"/>
          </a:p>
        </p:txBody>
      </p:sp>
      <p:sp>
        <p:nvSpPr>
          <p:cNvPr id="5" name="Text 3"/>
          <p:cNvSpPr txBox="1"/>
          <p:nvPr/>
        </p:nvSpPr>
        <p:spPr>
          <a:xfrm>
            <a:off x="3931920" y="1554480"/>
            <a:ext cx="7406640" cy="941832"/>
          </a:xfrm>
          <a:prstGeom prst="rect">
            <a:avLst/>
          </a:prstGeom>
          <a:noFill/>
          <a:ln/>
        </p:spPr>
        <p:txBody>
          <a:bodyPr wrap="square" lIns="0" tIns="0" rIns="0" bIns="0" rtlCol="0" anchor="ctr"/>
          <a:lstStyle/>
          <a:p>
            <a:pPr indent="0" marL="0">
              <a:buNone/>
            </a:pPr>
            <a:r>
              <a:rPr lang="en-US" sz="1600" dirty="0">
                <a:solidFill>
                  <a:schemeClr val="bg1"/>
                </a:solidFill>
              </a:rPr>
              <a:t>Redis, PostgreSQL and Kafka instead of one database. In return, 9,900 of 10,000 requests never reach the ledger.</a:t>
            </a:r>
            <a:endParaRPr lang="en-US" sz="1600" dirty="0"/>
          </a:p>
        </p:txBody>
      </p:sp>
      <p:sp>
        <p:nvSpPr>
          <p:cNvPr id="6" name="tradeoff-row"/>
          <p:cNvSpPr/>
          <p:nvPr/>
        </p:nvSpPr>
        <p:spPr>
          <a:xfrm>
            <a:off x="548640" y="2633472"/>
            <a:ext cx="11091672" cy="941832"/>
          </a:xfrm>
          <a:prstGeom prst="roundRect">
            <a:avLst>
              <a:gd name="adj" fmla="val 11650"/>
            </a:avLst>
          </a:prstGeom>
          <a:solidFill>
            <a:schemeClr val="tx2"/>
          </a:solidFill>
          <a:ln/>
        </p:spPr>
      </p:sp>
      <p:sp>
        <p:nvSpPr>
          <p:cNvPr id="7" name="Text 5"/>
          <p:cNvSpPr txBox="1"/>
          <p:nvPr/>
        </p:nvSpPr>
        <p:spPr>
          <a:xfrm>
            <a:off x="822960" y="2633472"/>
            <a:ext cx="2926080" cy="941832"/>
          </a:xfrm>
          <a:prstGeom prst="rect">
            <a:avLst/>
          </a:prstGeom>
          <a:noFill/>
          <a:ln/>
        </p:spPr>
        <p:txBody>
          <a:bodyPr wrap="square" lIns="0" tIns="0" rIns="0" bIns="0" rtlCol="0" anchor="ctr"/>
          <a:lstStyle/>
          <a:p>
            <a:pPr indent="0" marL="0">
              <a:buNone/>
            </a:pPr>
            <a:r>
              <a:rPr lang="en-US" sz="2000" b="1" dirty="0">
                <a:solidFill>
                  <a:schemeClr val="accent1"/>
                </a:solidFill>
              </a:rPr>
              <a:t>Eventual order creation</a:t>
            </a:r>
            <a:endParaRPr lang="en-US" sz="2000" dirty="0"/>
          </a:p>
        </p:txBody>
      </p:sp>
      <p:sp>
        <p:nvSpPr>
          <p:cNvPr id="8" name="Text 6"/>
          <p:cNvSpPr txBox="1"/>
          <p:nvPr/>
        </p:nvSpPr>
        <p:spPr>
          <a:xfrm>
            <a:off x="3931920" y="2633472"/>
            <a:ext cx="7406640" cy="941832"/>
          </a:xfrm>
          <a:prstGeom prst="rect">
            <a:avLst/>
          </a:prstGeom>
          <a:noFill/>
          <a:ln/>
        </p:spPr>
        <p:txBody>
          <a:bodyPr wrap="square" lIns="0" tIns="0" rIns="0" bIns="0" rtlCol="0" anchor="ctr"/>
          <a:lstStyle/>
          <a:p>
            <a:pPr indent="0" marL="0">
              <a:buNone/>
            </a:pPr>
            <a:r>
              <a:rPr lang="en-US" sz="1600" dirty="0">
                <a:solidFill>
                  <a:schemeClr val="bg1"/>
                </a:solidFill>
              </a:rPr>
              <a:t>Orders appear after the outbox relay, so buyers poll GET /orders/{id}. In return, no paid order is ever lost.</a:t>
            </a:r>
            <a:endParaRPr lang="en-US" sz="1600" dirty="0"/>
          </a:p>
        </p:txBody>
      </p:sp>
      <p:sp>
        <p:nvSpPr>
          <p:cNvPr id="9" name="tradeoff-row"/>
          <p:cNvSpPr/>
          <p:nvPr/>
        </p:nvSpPr>
        <p:spPr>
          <a:xfrm>
            <a:off x="548640" y="3712464"/>
            <a:ext cx="11091672" cy="941832"/>
          </a:xfrm>
          <a:prstGeom prst="roundRect">
            <a:avLst>
              <a:gd name="adj" fmla="val 11650"/>
            </a:avLst>
          </a:prstGeom>
          <a:solidFill>
            <a:schemeClr val="tx2"/>
          </a:solidFill>
          <a:ln/>
        </p:spPr>
      </p:sp>
      <p:sp>
        <p:nvSpPr>
          <p:cNvPr id="10" name="Text 8"/>
          <p:cNvSpPr txBox="1"/>
          <p:nvPr/>
        </p:nvSpPr>
        <p:spPr>
          <a:xfrm>
            <a:off x="822960" y="3712464"/>
            <a:ext cx="2926080" cy="941832"/>
          </a:xfrm>
          <a:prstGeom prst="rect">
            <a:avLst/>
          </a:prstGeom>
          <a:noFill/>
          <a:ln/>
        </p:spPr>
        <p:txBody>
          <a:bodyPr wrap="square" lIns="0" tIns="0" rIns="0" bIns="0" rtlCol="0" anchor="ctr"/>
          <a:lstStyle/>
          <a:p>
            <a:pPr indent="0" marL="0">
              <a:buNone/>
            </a:pPr>
            <a:r>
              <a:rPr lang="en-US" sz="2000" b="1" dirty="0">
                <a:solidFill>
                  <a:schemeClr val="accent1"/>
                </a:solidFill>
              </a:rPr>
              <a:t>Background workers</a:t>
            </a:r>
            <a:endParaRPr lang="en-US" sz="2000" dirty="0"/>
          </a:p>
        </p:txBody>
      </p:sp>
      <p:sp>
        <p:nvSpPr>
          <p:cNvPr id="11" name="Text 9"/>
          <p:cNvSpPr txBox="1"/>
          <p:nvPr/>
        </p:nvSpPr>
        <p:spPr>
          <a:xfrm>
            <a:off x="3931920" y="3712464"/>
            <a:ext cx="7406640" cy="941832"/>
          </a:xfrm>
          <a:prstGeom prst="rect">
            <a:avLst/>
          </a:prstGeom>
          <a:noFill/>
          <a:ln/>
        </p:spPr>
        <p:txBody>
          <a:bodyPr wrap="square" lIns="0" tIns="0" rIns="0" bIns="0" rtlCol="0" anchor="ctr"/>
          <a:lstStyle/>
          <a:p>
            <a:pPr indent="0" marL="0">
              <a:buNone/>
            </a:pPr>
            <a:r>
              <a:rPr lang="en-US" sz="1600" dirty="0">
                <a:solidFill>
                  <a:schemeClr val="bg1"/>
                </a:solidFill>
              </a:rPr>
              <a:t>The expiry sweeper and payment reconciliation must run and be monitored. In return, stock and money self-heal.</a:t>
            </a:r>
            <a:endParaRPr lang="en-US" sz="1600" dirty="0"/>
          </a:p>
        </p:txBody>
      </p:sp>
      <p:sp>
        <p:nvSpPr>
          <p:cNvPr id="12" name="tradeoff-row"/>
          <p:cNvSpPr/>
          <p:nvPr/>
        </p:nvSpPr>
        <p:spPr>
          <a:xfrm>
            <a:off x="548640" y="4791456"/>
            <a:ext cx="11091672" cy="941832"/>
          </a:xfrm>
          <a:prstGeom prst="roundRect">
            <a:avLst>
              <a:gd name="adj" fmla="val 11650"/>
            </a:avLst>
          </a:prstGeom>
          <a:solidFill>
            <a:schemeClr val="tx2"/>
          </a:solidFill>
          <a:ln/>
        </p:spPr>
      </p:sp>
      <p:sp>
        <p:nvSpPr>
          <p:cNvPr id="13" name="Text 11"/>
          <p:cNvSpPr txBox="1"/>
          <p:nvPr/>
        </p:nvSpPr>
        <p:spPr>
          <a:xfrm>
            <a:off x="822960" y="4791456"/>
            <a:ext cx="2926080" cy="941832"/>
          </a:xfrm>
          <a:prstGeom prst="rect">
            <a:avLst/>
          </a:prstGeom>
          <a:noFill/>
          <a:ln/>
        </p:spPr>
        <p:txBody>
          <a:bodyPr wrap="square" lIns="0" tIns="0" rIns="0" bIns="0" rtlCol="0" anchor="ctr"/>
          <a:lstStyle/>
          <a:p>
            <a:pPr indent="0" marL="0">
              <a:buNone/>
            </a:pPr>
            <a:r>
              <a:rPr lang="en-US" sz="2000" b="1" dirty="0">
                <a:solidFill>
                  <a:schemeClr val="accent1"/>
                </a:solidFill>
              </a:rPr>
              <a:t>Evidence is a model</a:t>
            </a:r>
            <a:endParaRPr lang="en-US" sz="2000" dirty="0"/>
          </a:p>
        </p:txBody>
      </p:sp>
      <p:sp>
        <p:nvSpPr>
          <p:cNvPr id="14" name="Text 12"/>
          <p:cNvSpPr txBox="1"/>
          <p:nvPr/>
        </p:nvSpPr>
        <p:spPr>
          <a:xfrm>
            <a:off x="3931920" y="4791456"/>
            <a:ext cx="7406640" cy="941832"/>
          </a:xfrm>
          <a:prstGeom prst="rect">
            <a:avLst/>
          </a:prstGeom>
          <a:noFill/>
          <a:ln/>
        </p:spPr>
        <p:txBody>
          <a:bodyPr wrap="square" lIns="0" tIns="0" rIns="0" bIns="0" rtlCol="0" anchor="ctr"/>
          <a:lstStyle/>
          <a:p>
            <a:pPr indent="0" marL="0">
              <a:buNone/>
            </a:pPr>
            <a:r>
              <a:rPr lang="en-US" sz="1600" dirty="0">
                <a:solidFill>
                  <a:schemeClr val="bg1"/>
                </a:solidFill>
              </a:rPr>
              <a:t>The simulation uses SQLite stand-ins, so it proves the logic, not production throughput. A load test on real infrastructure is the next step.</a:t>
            </a:r>
            <a:endParaRPr lang="en-US" sz="1600" dirty="0"/>
          </a:p>
        </p:txBody>
      </p:sp>
      <p:sp>
        <p:nvSpPr>
          <p:cNvPr id="15" name="Text 13"/>
          <p:cNvSpPr txBox="1"/>
          <p:nvPr/>
        </p:nvSpPr>
        <p:spPr>
          <a:xfrm>
            <a:off x="548640" y="5943600"/>
            <a:ext cx="11091672" cy="320040"/>
          </a:xfrm>
          <a:prstGeom prst="rect">
            <a:avLst/>
          </a:prstGeom>
          <a:noFill/>
          <a:ln/>
        </p:spPr>
        <p:txBody>
          <a:bodyPr wrap="square" lIns="0" tIns="0" rIns="0" bIns="0" rtlCol="0" anchor="t"/>
          <a:lstStyle/>
          <a:p>
            <a:pPr indent="0" marL="0">
              <a:buNone/>
            </a:pPr>
            <a:r>
              <a:rPr lang="en-US" sz="1200" dirty="0">
                <a:solidFill>
                  <a:schemeClr val="bg2"/>
                </a:solidFill>
              </a:rPr>
              <a:t>AI-assisted: Antigravity and Claude drafted documents, diagrams and the simulation. The team reviewed and validated the design.</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Backup: state machines</a:t>
            </a:r>
            <a:endParaRPr lang="en-US" sz="3400" dirty="0"/>
          </a:p>
        </p:txBody>
      </p:sp>
      <p:sp>
        <p:nvSpPr>
          <p:cNvPr id="3" name="Text 1"/>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400" b="1" dirty="0">
                <a:solidFill>
                  <a:schemeClr val="accent6"/>
                </a:solidFill>
              </a:rPr>
              <a:t>Reservation (8 states)</a:t>
            </a:r>
            <a:endParaRPr lang="en-US" sz="1400" dirty="0"/>
          </a:p>
        </p:txBody>
      </p:sp>
      <p:sp>
        <p:nvSpPr>
          <p:cNvPr id="4" name="Text 2"/>
          <p:cNvSpPr txBox="1"/>
          <p:nvPr/>
        </p:nvSpPr>
        <p:spPr>
          <a:xfrm>
            <a:off x="548640" y="1764792"/>
            <a:ext cx="155448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RESERVED</a:t>
            </a:r>
            <a:endParaRPr lang="en-US" sz="1100" dirty="0"/>
          </a:p>
        </p:txBody>
      </p:sp>
      <p:sp>
        <p:nvSpPr>
          <p:cNvPr id="5" name="Shape 3"/>
          <p:cNvSpPr/>
          <p:nvPr/>
        </p:nvSpPr>
        <p:spPr>
          <a:xfrm>
            <a:off x="2121408" y="2016252"/>
            <a:ext cx="164592" cy="0"/>
          </a:xfrm>
          <a:prstGeom prst="line">
            <a:avLst/>
          </a:prstGeom>
          <a:noFill/>
          <a:ln w="22225">
            <a:solidFill>
              <a:schemeClr val="accent6"/>
            </a:solidFill>
            <a:prstDash val="solid"/>
            <a:tailEnd type="triangle"/>
          </a:ln>
        </p:spPr>
      </p:sp>
      <p:sp>
        <p:nvSpPr>
          <p:cNvPr id="6" name="Text 4"/>
          <p:cNvSpPr txBox="1"/>
          <p:nvPr/>
        </p:nvSpPr>
        <p:spPr>
          <a:xfrm>
            <a:off x="2304288" y="1764792"/>
            <a:ext cx="192024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PAYMENT_PENDING</a:t>
            </a:r>
            <a:endParaRPr lang="en-US" sz="1100" dirty="0"/>
          </a:p>
        </p:txBody>
      </p:sp>
      <p:sp>
        <p:nvSpPr>
          <p:cNvPr id="7" name="Shape 5"/>
          <p:cNvSpPr/>
          <p:nvPr/>
        </p:nvSpPr>
        <p:spPr>
          <a:xfrm>
            <a:off x="4242816" y="2016252"/>
            <a:ext cx="164592" cy="0"/>
          </a:xfrm>
          <a:prstGeom prst="line">
            <a:avLst/>
          </a:prstGeom>
          <a:noFill/>
          <a:ln w="22225">
            <a:solidFill>
              <a:schemeClr val="accent6"/>
            </a:solidFill>
            <a:prstDash val="solid"/>
            <a:tailEnd type="triangle"/>
          </a:ln>
        </p:spPr>
      </p:sp>
      <p:sp>
        <p:nvSpPr>
          <p:cNvPr id="8" name="Text 6"/>
          <p:cNvSpPr txBox="1"/>
          <p:nvPr/>
        </p:nvSpPr>
        <p:spPr>
          <a:xfrm>
            <a:off x="4425696" y="1764792"/>
            <a:ext cx="155448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CONFIRMED</a:t>
            </a:r>
            <a:endParaRPr lang="en-US" sz="1100" dirty="0"/>
          </a:p>
        </p:txBody>
      </p:sp>
      <p:sp>
        <p:nvSpPr>
          <p:cNvPr id="9" name="Shape 7"/>
          <p:cNvSpPr/>
          <p:nvPr/>
        </p:nvSpPr>
        <p:spPr>
          <a:xfrm>
            <a:off x="5998464" y="2016252"/>
            <a:ext cx="164592" cy="0"/>
          </a:xfrm>
          <a:prstGeom prst="line">
            <a:avLst/>
          </a:prstGeom>
          <a:noFill/>
          <a:ln w="22225">
            <a:solidFill>
              <a:schemeClr val="accent6"/>
            </a:solidFill>
            <a:prstDash val="solid"/>
            <a:tailEnd type="triangle"/>
          </a:ln>
        </p:spPr>
      </p:sp>
      <p:sp>
        <p:nvSpPr>
          <p:cNvPr id="10" name="Text 8"/>
          <p:cNvSpPr txBox="1"/>
          <p:nvPr/>
        </p:nvSpPr>
        <p:spPr>
          <a:xfrm>
            <a:off x="6181344" y="1764792"/>
            <a:ext cx="12801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SOLD</a:t>
            </a:r>
            <a:endParaRPr lang="en-US" sz="1100" dirty="0"/>
          </a:p>
        </p:txBody>
      </p:sp>
      <p:sp>
        <p:nvSpPr>
          <p:cNvPr id="11" name="Text 9"/>
          <p:cNvSpPr txBox="1"/>
          <p:nvPr/>
        </p:nvSpPr>
        <p:spPr>
          <a:xfrm>
            <a:off x="548640" y="2404872"/>
            <a:ext cx="3291840" cy="411480"/>
          </a:xfrm>
          <a:prstGeom prst="roundRect">
            <a:avLst>
              <a:gd name="adj" fmla="val 22222"/>
            </a:avLst>
          </a:prstGeom>
          <a:solidFill>
            <a:schemeClr val="accent4"/>
          </a:solidFill>
          <a:ln/>
        </p:spPr>
        <p:txBody>
          <a:bodyPr wrap="square" lIns="0" tIns="0" rIns="0" bIns="0" rtlCol="0" anchor="ctr"/>
          <a:lstStyle/>
          <a:p>
            <a:pPr algn="ctr" indent="0" marL="0">
              <a:buNone/>
            </a:pPr>
            <a:r>
              <a:rPr lang="en-US" sz="1100" b="1" dirty="0">
                <a:solidFill>
                  <a:schemeClr val="bg1"/>
                </a:solidFill>
              </a:rPr>
              <a:t>RESERVED → TIMEOUT → RELEASED</a:t>
            </a:r>
            <a:endParaRPr lang="en-US" sz="1100" dirty="0"/>
          </a:p>
        </p:txBody>
      </p:sp>
      <p:sp>
        <p:nvSpPr>
          <p:cNvPr id="12" name="Text 10"/>
          <p:cNvSpPr txBox="1"/>
          <p:nvPr/>
        </p:nvSpPr>
        <p:spPr>
          <a:xfrm>
            <a:off x="4023360" y="2404872"/>
            <a:ext cx="4480560" cy="411480"/>
          </a:xfrm>
          <a:prstGeom prst="roundRect">
            <a:avLst>
              <a:gd name="adj" fmla="val 22222"/>
            </a:avLst>
          </a:prstGeom>
          <a:solidFill>
            <a:schemeClr val="accent4"/>
          </a:solidFill>
          <a:ln/>
        </p:spPr>
        <p:txBody>
          <a:bodyPr wrap="square" lIns="0" tIns="0" rIns="0" bIns="0" rtlCol="0" anchor="ctr"/>
          <a:lstStyle/>
          <a:p>
            <a:pPr algn="ctr" indent="0" marL="0">
              <a:buNone/>
            </a:pPr>
            <a:r>
              <a:rPr lang="en-US" sz="1100" b="1" dirty="0">
                <a:solidFill>
                  <a:schemeClr val="bg1"/>
                </a:solidFill>
              </a:rPr>
              <a:t>PAYMENT_PENDING → PAYMENT_FAILED → RELEASED</a:t>
            </a:r>
            <a:endParaRPr lang="en-US" sz="1100" dirty="0"/>
          </a:p>
        </p:txBody>
      </p:sp>
      <p:sp>
        <p:nvSpPr>
          <p:cNvPr id="13" name="Text 11"/>
          <p:cNvSpPr txBox="1"/>
          <p:nvPr/>
        </p:nvSpPr>
        <p:spPr>
          <a:xfrm>
            <a:off x="548640" y="3154680"/>
            <a:ext cx="5486400" cy="274320"/>
          </a:xfrm>
          <a:prstGeom prst="rect">
            <a:avLst/>
          </a:prstGeom>
          <a:noFill/>
          <a:ln/>
        </p:spPr>
        <p:txBody>
          <a:bodyPr wrap="square" lIns="0" tIns="0" rIns="0" bIns="0" rtlCol="0" anchor="t"/>
          <a:lstStyle/>
          <a:p>
            <a:pPr indent="0" marL="0">
              <a:buNone/>
            </a:pPr>
            <a:r>
              <a:rPr lang="en-US" sz="1400" b="1" dirty="0">
                <a:solidFill>
                  <a:schemeClr val="accent6"/>
                </a:solidFill>
              </a:rPr>
              <a:t>Order (10 states)</a:t>
            </a:r>
            <a:endParaRPr lang="en-US" sz="1400" dirty="0"/>
          </a:p>
        </p:txBody>
      </p:sp>
      <p:sp>
        <p:nvSpPr>
          <p:cNvPr id="14" name="Text 12"/>
          <p:cNvSpPr txBox="1"/>
          <p:nvPr/>
        </p:nvSpPr>
        <p:spPr>
          <a:xfrm>
            <a:off x="548640" y="3502152"/>
            <a:ext cx="1371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CREATED</a:t>
            </a:r>
            <a:endParaRPr lang="en-US" sz="1100" dirty="0"/>
          </a:p>
        </p:txBody>
      </p:sp>
      <p:sp>
        <p:nvSpPr>
          <p:cNvPr id="15" name="Shape 13"/>
          <p:cNvSpPr/>
          <p:nvPr/>
        </p:nvSpPr>
        <p:spPr>
          <a:xfrm>
            <a:off x="1938528" y="3753612"/>
            <a:ext cx="164592" cy="0"/>
          </a:xfrm>
          <a:prstGeom prst="line">
            <a:avLst/>
          </a:prstGeom>
          <a:noFill/>
          <a:ln w="22225">
            <a:solidFill>
              <a:schemeClr val="accent6"/>
            </a:solidFill>
            <a:prstDash val="solid"/>
            <a:tailEnd type="triangle"/>
          </a:ln>
        </p:spPr>
      </p:sp>
      <p:sp>
        <p:nvSpPr>
          <p:cNvPr id="16" name="Text 14"/>
          <p:cNvSpPr txBox="1"/>
          <p:nvPr/>
        </p:nvSpPr>
        <p:spPr>
          <a:xfrm>
            <a:off x="2121408" y="3502152"/>
            <a:ext cx="17373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PAYMENT_PENDING</a:t>
            </a:r>
            <a:endParaRPr lang="en-US" sz="1100" dirty="0"/>
          </a:p>
        </p:txBody>
      </p:sp>
      <p:sp>
        <p:nvSpPr>
          <p:cNvPr id="17" name="Shape 15"/>
          <p:cNvSpPr/>
          <p:nvPr/>
        </p:nvSpPr>
        <p:spPr>
          <a:xfrm>
            <a:off x="3877056" y="3753612"/>
            <a:ext cx="164592" cy="0"/>
          </a:xfrm>
          <a:prstGeom prst="line">
            <a:avLst/>
          </a:prstGeom>
          <a:noFill/>
          <a:ln w="22225">
            <a:solidFill>
              <a:schemeClr val="accent6"/>
            </a:solidFill>
            <a:prstDash val="solid"/>
            <a:tailEnd type="triangle"/>
          </a:ln>
        </p:spPr>
      </p:sp>
      <p:sp>
        <p:nvSpPr>
          <p:cNvPr id="18" name="Text 16"/>
          <p:cNvSpPr txBox="1"/>
          <p:nvPr/>
        </p:nvSpPr>
        <p:spPr>
          <a:xfrm>
            <a:off x="4059936" y="3502152"/>
            <a:ext cx="1371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CONFIRMED</a:t>
            </a:r>
            <a:endParaRPr lang="en-US" sz="1100" dirty="0"/>
          </a:p>
        </p:txBody>
      </p:sp>
      <p:sp>
        <p:nvSpPr>
          <p:cNvPr id="19" name="Shape 17"/>
          <p:cNvSpPr/>
          <p:nvPr/>
        </p:nvSpPr>
        <p:spPr>
          <a:xfrm>
            <a:off x="5449824" y="3753612"/>
            <a:ext cx="164592" cy="0"/>
          </a:xfrm>
          <a:prstGeom prst="line">
            <a:avLst/>
          </a:prstGeom>
          <a:noFill/>
          <a:ln w="22225">
            <a:solidFill>
              <a:schemeClr val="accent6"/>
            </a:solidFill>
            <a:prstDash val="solid"/>
            <a:tailEnd type="triangle"/>
          </a:ln>
        </p:spPr>
      </p:sp>
      <p:sp>
        <p:nvSpPr>
          <p:cNvPr id="20" name="Text 18"/>
          <p:cNvSpPr txBox="1"/>
          <p:nvPr/>
        </p:nvSpPr>
        <p:spPr>
          <a:xfrm>
            <a:off x="5632704" y="3502152"/>
            <a:ext cx="1371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PROCESSING</a:t>
            </a:r>
            <a:endParaRPr lang="en-US" sz="1100" dirty="0"/>
          </a:p>
        </p:txBody>
      </p:sp>
      <p:sp>
        <p:nvSpPr>
          <p:cNvPr id="21" name="Shape 19"/>
          <p:cNvSpPr/>
          <p:nvPr/>
        </p:nvSpPr>
        <p:spPr>
          <a:xfrm>
            <a:off x="7022592" y="3753612"/>
            <a:ext cx="164592" cy="0"/>
          </a:xfrm>
          <a:prstGeom prst="line">
            <a:avLst/>
          </a:prstGeom>
          <a:noFill/>
          <a:ln w="22225">
            <a:solidFill>
              <a:schemeClr val="accent6"/>
            </a:solidFill>
            <a:prstDash val="solid"/>
            <a:tailEnd type="triangle"/>
          </a:ln>
        </p:spPr>
      </p:sp>
      <p:sp>
        <p:nvSpPr>
          <p:cNvPr id="22" name="Text 20"/>
          <p:cNvSpPr txBox="1"/>
          <p:nvPr/>
        </p:nvSpPr>
        <p:spPr>
          <a:xfrm>
            <a:off x="7205472" y="3502152"/>
            <a:ext cx="118872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SHIPPED</a:t>
            </a:r>
            <a:endParaRPr lang="en-US" sz="1100" dirty="0"/>
          </a:p>
        </p:txBody>
      </p:sp>
      <p:sp>
        <p:nvSpPr>
          <p:cNvPr id="23" name="Shape 21"/>
          <p:cNvSpPr/>
          <p:nvPr/>
        </p:nvSpPr>
        <p:spPr>
          <a:xfrm>
            <a:off x="8412480" y="3753612"/>
            <a:ext cx="164592" cy="0"/>
          </a:xfrm>
          <a:prstGeom prst="line">
            <a:avLst/>
          </a:prstGeom>
          <a:noFill/>
          <a:ln w="22225">
            <a:solidFill>
              <a:schemeClr val="accent6"/>
            </a:solidFill>
            <a:prstDash val="solid"/>
            <a:tailEnd type="triangle"/>
          </a:ln>
        </p:spPr>
      </p:sp>
      <p:sp>
        <p:nvSpPr>
          <p:cNvPr id="24" name="Text 22"/>
          <p:cNvSpPr txBox="1"/>
          <p:nvPr/>
        </p:nvSpPr>
        <p:spPr>
          <a:xfrm>
            <a:off x="8595360" y="3502152"/>
            <a:ext cx="17373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OUT_FOR_DELIVERY</a:t>
            </a:r>
            <a:endParaRPr lang="en-US" sz="1100" dirty="0"/>
          </a:p>
        </p:txBody>
      </p:sp>
      <p:sp>
        <p:nvSpPr>
          <p:cNvPr id="25" name="Shape 23"/>
          <p:cNvSpPr/>
          <p:nvPr/>
        </p:nvSpPr>
        <p:spPr>
          <a:xfrm>
            <a:off x="10351008" y="3753612"/>
            <a:ext cx="164592" cy="0"/>
          </a:xfrm>
          <a:prstGeom prst="line">
            <a:avLst/>
          </a:prstGeom>
          <a:noFill/>
          <a:ln w="22225">
            <a:solidFill>
              <a:schemeClr val="accent6"/>
            </a:solidFill>
            <a:prstDash val="solid"/>
            <a:tailEnd type="triangle"/>
          </a:ln>
        </p:spPr>
      </p:sp>
      <p:sp>
        <p:nvSpPr>
          <p:cNvPr id="26" name="Text 24"/>
          <p:cNvSpPr txBox="1"/>
          <p:nvPr/>
        </p:nvSpPr>
        <p:spPr>
          <a:xfrm>
            <a:off x="10533888" y="3502152"/>
            <a:ext cx="12801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DELIVERED</a:t>
            </a:r>
            <a:endParaRPr lang="en-US" sz="1100" dirty="0"/>
          </a:p>
        </p:txBody>
      </p:sp>
      <p:sp>
        <p:nvSpPr>
          <p:cNvPr id="27" name="Text 25"/>
          <p:cNvSpPr txBox="1"/>
          <p:nvPr/>
        </p:nvSpPr>
        <p:spPr>
          <a:xfrm>
            <a:off x="548640" y="4142232"/>
            <a:ext cx="8412480" cy="411480"/>
          </a:xfrm>
          <a:prstGeom prst="roundRect">
            <a:avLst>
              <a:gd name="adj" fmla="val 22222"/>
            </a:avLst>
          </a:prstGeom>
          <a:solidFill>
            <a:schemeClr val="accent4"/>
          </a:solidFill>
          <a:ln/>
        </p:spPr>
        <p:txBody>
          <a:bodyPr wrap="square" lIns="0" tIns="0" rIns="0" bIns="0" rtlCol="0" anchor="ctr"/>
          <a:lstStyle/>
          <a:p>
            <a:pPr algn="ctr" indent="0" marL="0">
              <a:buNone/>
            </a:pPr>
            <a:r>
              <a:rPr lang="en-US" sz="1100" b="1" dirty="0">
                <a:solidFill>
                  <a:schemeClr val="bg1"/>
                </a:solidFill>
              </a:rPr>
              <a:t>CREATED, PAYMENT_PENDING, CONFIRMED or PROCESSING &gt; CANCELLED → REFUND_PENDING → REFUNDED</a:t>
            </a:r>
            <a:endParaRPr lang="en-US" sz="1100" dirty="0"/>
          </a:p>
        </p:txBody>
      </p:sp>
      <p:sp>
        <p:nvSpPr>
          <p:cNvPr id="28" name="Text 26"/>
          <p:cNvSpPr txBox="1"/>
          <p:nvPr/>
        </p:nvSpPr>
        <p:spPr>
          <a:xfrm>
            <a:off x="548640" y="4892040"/>
            <a:ext cx="5486400" cy="274320"/>
          </a:xfrm>
          <a:prstGeom prst="rect">
            <a:avLst/>
          </a:prstGeom>
          <a:noFill/>
          <a:ln/>
        </p:spPr>
        <p:txBody>
          <a:bodyPr wrap="square" lIns="0" tIns="0" rIns="0" bIns="0" rtlCol="0" anchor="t"/>
          <a:lstStyle/>
          <a:p>
            <a:pPr indent="0" marL="0">
              <a:buNone/>
            </a:pPr>
            <a:r>
              <a:rPr lang="en-US" sz="1400" b="1" dirty="0">
                <a:solidFill>
                  <a:schemeClr val="accent6"/>
                </a:solidFill>
              </a:rPr>
              <a:t>Payment (8 states)</a:t>
            </a:r>
            <a:endParaRPr lang="en-US" sz="1400" dirty="0"/>
          </a:p>
        </p:txBody>
      </p:sp>
      <p:sp>
        <p:nvSpPr>
          <p:cNvPr id="29" name="Text 27"/>
          <p:cNvSpPr txBox="1"/>
          <p:nvPr/>
        </p:nvSpPr>
        <p:spPr>
          <a:xfrm>
            <a:off x="548640" y="5239512"/>
            <a:ext cx="1371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INITIATED</a:t>
            </a:r>
            <a:endParaRPr lang="en-US" sz="1100" dirty="0"/>
          </a:p>
        </p:txBody>
      </p:sp>
      <p:sp>
        <p:nvSpPr>
          <p:cNvPr id="30" name="Shape 28"/>
          <p:cNvSpPr/>
          <p:nvPr/>
        </p:nvSpPr>
        <p:spPr>
          <a:xfrm>
            <a:off x="1938528" y="5490972"/>
            <a:ext cx="164592" cy="0"/>
          </a:xfrm>
          <a:prstGeom prst="line">
            <a:avLst/>
          </a:prstGeom>
          <a:noFill/>
          <a:ln w="22225">
            <a:solidFill>
              <a:schemeClr val="accent6"/>
            </a:solidFill>
            <a:prstDash val="solid"/>
            <a:tailEnd type="triangle"/>
          </a:ln>
        </p:spPr>
      </p:sp>
      <p:sp>
        <p:nvSpPr>
          <p:cNvPr id="31" name="Text 29"/>
          <p:cNvSpPr txBox="1"/>
          <p:nvPr/>
        </p:nvSpPr>
        <p:spPr>
          <a:xfrm>
            <a:off x="2121408" y="5239512"/>
            <a:ext cx="12801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PENDING</a:t>
            </a:r>
            <a:endParaRPr lang="en-US" sz="1100" dirty="0"/>
          </a:p>
        </p:txBody>
      </p:sp>
      <p:sp>
        <p:nvSpPr>
          <p:cNvPr id="32" name="Shape 30"/>
          <p:cNvSpPr/>
          <p:nvPr/>
        </p:nvSpPr>
        <p:spPr>
          <a:xfrm>
            <a:off x="3419856" y="5490972"/>
            <a:ext cx="164592" cy="0"/>
          </a:xfrm>
          <a:prstGeom prst="line">
            <a:avLst/>
          </a:prstGeom>
          <a:noFill/>
          <a:ln w="22225">
            <a:solidFill>
              <a:schemeClr val="accent6"/>
            </a:solidFill>
            <a:prstDash val="solid"/>
            <a:tailEnd type="triangle"/>
          </a:ln>
        </p:spPr>
      </p:sp>
      <p:sp>
        <p:nvSpPr>
          <p:cNvPr id="33" name="Text 31"/>
          <p:cNvSpPr txBox="1"/>
          <p:nvPr/>
        </p:nvSpPr>
        <p:spPr>
          <a:xfrm>
            <a:off x="3602736" y="5239512"/>
            <a:ext cx="347472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SUCCESS | FAILED | TIMEOUT_UNKNOWN</a:t>
            </a:r>
            <a:endParaRPr lang="en-US" sz="1100" dirty="0"/>
          </a:p>
        </p:txBody>
      </p:sp>
      <p:sp>
        <p:nvSpPr>
          <p:cNvPr id="34" name="Shape 32"/>
          <p:cNvSpPr/>
          <p:nvPr/>
        </p:nvSpPr>
        <p:spPr>
          <a:xfrm>
            <a:off x="7095744" y="5490972"/>
            <a:ext cx="164592" cy="0"/>
          </a:xfrm>
          <a:prstGeom prst="line">
            <a:avLst/>
          </a:prstGeom>
          <a:noFill/>
          <a:ln w="22225">
            <a:solidFill>
              <a:schemeClr val="accent6"/>
            </a:solidFill>
            <a:prstDash val="solid"/>
            <a:tailEnd type="triangle"/>
          </a:ln>
        </p:spPr>
      </p:sp>
      <p:sp>
        <p:nvSpPr>
          <p:cNvPr id="35" name="Text 33"/>
          <p:cNvSpPr txBox="1"/>
          <p:nvPr/>
        </p:nvSpPr>
        <p:spPr>
          <a:xfrm>
            <a:off x="7278624" y="5239512"/>
            <a:ext cx="265176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RECONCILED_SUCCESS | FAILED</a:t>
            </a:r>
            <a:endParaRPr lang="en-US" sz="1100" dirty="0"/>
          </a:p>
        </p:txBody>
      </p:sp>
      <p:sp>
        <p:nvSpPr>
          <p:cNvPr id="36" name="Shape 34"/>
          <p:cNvSpPr/>
          <p:nvPr/>
        </p:nvSpPr>
        <p:spPr>
          <a:xfrm>
            <a:off x="9948672" y="5490972"/>
            <a:ext cx="164592" cy="0"/>
          </a:xfrm>
          <a:prstGeom prst="line">
            <a:avLst/>
          </a:prstGeom>
          <a:noFill/>
          <a:ln w="22225">
            <a:solidFill>
              <a:schemeClr val="accent6"/>
            </a:solidFill>
            <a:prstDash val="solid"/>
            <a:tailEnd type="triangle"/>
          </a:ln>
        </p:spPr>
      </p:sp>
      <p:sp>
        <p:nvSpPr>
          <p:cNvPr id="37" name="Text 35"/>
          <p:cNvSpPr txBox="1"/>
          <p:nvPr/>
        </p:nvSpPr>
        <p:spPr>
          <a:xfrm>
            <a:off x="10131552" y="5239512"/>
            <a:ext cx="1371600" cy="502920"/>
          </a:xfrm>
          <a:prstGeom prst="roundRect">
            <a:avLst>
              <a:gd name="adj" fmla="val 18182"/>
            </a:avLst>
          </a:prstGeom>
          <a:solidFill>
            <a:schemeClr val="tx2"/>
          </a:solidFill>
          <a:ln/>
        </p:spPr>
        <p:txBody>
          <a:bodyPr wrap="square" lIns="0" tIns="0" rIns="0" bIns="0" rtlCol="0" anchor="ctr"/>
          <a:lstStyle/>
          <a:p>
            <a:pPr algn="ctr" indent="0" marL="0">
              <a:buNone/>
            </a:pPr>
            <a:r>
              <a:rPr lang="en-US" sz="1100" b="1" dirty="0">
                <a:solidFill>
                  <a:schemeClr val="bg1"/>
                </a:solidFill>
              </a:rPr>
              <a:t>REFUNDED</a:t>
            </a:r>
            <a:endParaRPr lang="en-US" sz="11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Backup: data model and API</a:t>
            </a:r>
            <a:endParaRPr lang="en-US" sz="3400" dirty="0"/>
          </a:p>
        </p:txBody>
      </p:sp>
      <p:sp>
        <p:nvSpPr>
          <p:cNvPr id="3" name="Text 1"/>
          <p:cNvSpPr txBox="1"/>
          <p:nvPr/>
        </p:nvSpPr>
        <p:spPr>
          <a:xfrm>
            <a:off x="548640" y="1417320"/>
            <a:ext cx="45720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16 POSTGRESQL TABLES</a:t>
            </a:r>
            <a:endParaRPr lang="en-US" sz="1200" dirty="0"/>
          </a:p>
        </p:txBody>
      </p:sp>
      <p:sp>
        <p:nvSpPr>
          <p:cNvPr id="4" name="Text 2"/>
          <p:cNvSpPr txBox="1"/>
          <p:nvPr/>
        </p:nvSpPr>
        <p:spPr>
          <a:xfrm>
            <a:off x="548640" y="178308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customer</a:t>
            </a:r>
            <a:endParaRPr lang="en-US" sz="1100" dirty="0"/>
          </a:p>
        </p:txBody>
      </p:sp>
      <p:sp>
        <p:nvSpPr>
          <p:cNvPr id="5" name="Text 3"/>
          <p:cNvSpPr txBox="1"/>
          <p:nvPr/>
        </p:nvSpPr>
        <p:spPr>
          <a:xfrm>
            <a:off x="2331720" y="178308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address</a:t>
            </a:r>
            <a:endParaRPr lang="en-US" sz="1100" dirty="0"/>
          </a:p>
        </p:txBody>
      </p:sp>
      <p:sp>
        <p:nvSpPr>
          <p:cNvPr id="6" name="Text 4"/>
          <p:cNvSpPr txBox="1"/>
          <p:nvPr/>
        </p:nvSpPr>
        <p:spPr>
          <a:xfrm>
            <a:off x="4114800" y="178308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product</a:t>
            </a:r>
            <a:endParaRPr lang="en-US" sz="1100" dirty="0"/>
          </a:p>
        </p:txBody>
      </p:sp>
      <p:sp>
        <p:nvSpPr>
          <p:cNvPr id="7" name="Text 5"/>
          <p:cNvSpPr txBox="1"/>
          <p:nvPr/>
        </p:nvSpPr>
        <p:spPr>
          <a:xfrm>
            <a:off x="548640" y="228600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sale_deal</a:t>
            </a:r>
            <a:endParaRPr lang="en-US" sz="1100" dirty="0"/>
          </a:p>
        </p:txBody>
      </p:sp>
      <p:sp>
        <p:nvSpPr>
          <p:cNvPr id="8" name="Text 6"/>
          <p:cNvSpPr txBox="1"/>
          <p:nvPr/>
        </p:nvSpPr>
        <p:spPr>
          <a:xfrm>
            <a:off x="2331720" y="228600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inventory</a:t>
            </a:r>
            <a:endParaRPr lang="en-US" sz="1100" dirty="0"/>
          </a:p>
        </p:txBody>
      </p:sp>
      <p:sp>
        <p:nvSpPr>
          <p:cNvPr id="9" name="Text 7"/>
          <p:cNvSpPr txBox="1"/>
          <p:nvPr/>
        </p:nvSpPr>
        <p:spPr>
          <a:xfrm>
            <a:off x="4114800" y="228600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cart</a:t>
            </a:r>
            <a:endParaRPr lang="en-US" sz="1100" dirty="0"/>
          </a:p>
        </p:txBody>
      </p:sp>
      <p:sp>
        <p:nvSpPr>
          <p:cNvPr id="10" name="Text 8"/>
          <p:cNvSpPr txBox="1"/>
          <p:nvPr/>
        </p:nvSpPr>
        <p:spPr>
          <a:xfrm>
            <a:off x="548640" y="278892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cart_item</a:t>
            </a:r>
            <a:endParaRPr lang="en-US" sz="1100" dirty="0"/>
          </a:p>
        </p:txBody>
      </p:sp>
      <p:sp>
        <p:nvSpPr>
          <p:cNvPr id="11" name="Text 9"/>
          <p:cNvSpPr txBox="1"/>
          <p:nvPr/>
        </p:nvSpPr>
        <p:spPr>
          <a:xfrm>
            <a:off x="2331720" y="278892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inventory_reservation</a:t>
            </a:r>
            <a:endParaRPr lang="en-US" sz="1100" dirty="0"/>
          </a:p>
        </p:txBody>
      </p:sp>
      <p:sp>
        <p:nvSpPr>
          <p:cNvPr id="12" name="Text 10"/>
          <p:cNvSpPr txBox="1"/>
          <p:nvPr/>
        </p:nvSpPr>
        <p:spPr>
          <a:xfrm>
            <a:off x="4114800" y="278892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payment</a:t>
            </a:r>
            <a:endParaRPr lang="en-US" sz="1100" dirty="0"/>
          </a:p>
        </p:txBody>
      </p:sp>
      <p:sp>
        <p:nvSpPr>
          <p:cNvPr id="13" name="Text 11"/>
          <p:cNvSpPr txBox="1"/>
          <p:nvPr/>
        </p:nvSpPr>
        <p:spPr>
          <a:xfrm>
            <a:off x="548640" y="329184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orders</a:t>
            </a:r>
            <a:endParaRPr lang="en-US" sz="1100" dirty="0"/>
          </a:p>
        </p:txBody>
      </p:sp>
      <p:sp>
        <p:nvSpPr>
          <p:cNvPr id="14" name="Text 12"/>
          <p:cNvSpPr txBox="1"/>
          <p:nvPr/>
        </p:nvSpPr>
        <p:spPr>
          <a:xfrm>
            <a:off x="2331720" y="329184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order_item</a:t>
            </a:r>
            <a:endParaRPr lang="en-US" sz="1100" dirty="0"/>
          </a:p>
        </p:txBody>
      </p:sp>
      <p:sp>
        <p:nvSpPr>
          <p:cNvPr id="15" name="Text 13"/>
          <p:cNvSpPr txBox="1"/>
          <p:nvPr/>
        </p:nvSpPr>
        <p:spPr>
          <a:xfrm>
            <a:off x="4114800" y="329184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order_state_history</a:t>
            </a:r>
            <a:endParaRPr lang="en-US" sz="1100" dirty="0"/>
          </a:p>
        </p:txBody>
      </p:sp>
      <p:sp>
        <p:nvSpPr>
          <p:cNvPr id="16" name="Text 14"/>
          <p:cNvSpPr txBox="1"/>
          <p:nvPr/>
        </p:nvSpPr>
        <p:spPr>
          <a:xfrm>
            <a:off x="548640" y="379476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shipment</a:t>
            </a:r>
            <a:endParaRPr lang="en-US" sz="1100" dirty="0"/>
          </a:p>
        </p:txBody>
      </p:sp>
      <p:sp>
        <p:nvSpPr>
          <p:cNvPr id="17" name="Text 15"/>
          <p:cNvSpPr txBox="1"/>
          <p:nvPr/>
        </p:nvSpPr>
        <p:spPr>
          <a:xfrm>
            <a:off x="2331720" y="379476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notification</a:t>
            </a:r>
            <a:endParaRPr lang="en-US" sz="1100" dirty="0"/>
          </a:p>
        </p:txBody>
      </p:sp>
      <p:sp>
        <p:nvSpPr>
          <p:cNvPr id="18" name="Text 16"/>
          <p:cNvSpPr txBox="1"/>
          <p:nvPr/>
        </p:nvSpPr>
        <p:spPr>
          <a:xfrm>
            <a:off x="4114800" y="379476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outbox_event</a:t>
            </a:r>
            <a:endParaRPr lang="en-US" sz="1100" dirty="0"/>
          </a:p>
        </p:txBody>
      </p:sp>
      <p:sp>
        <p:nvSpPr>
          <p:cNvPr id="19" name="Text 17"/>
          <p:cNvSpPr txBox="1"/>
          <p:nvPr/>
        </p:nvSpPr>
        <p:spPr>
          <a:xfrm>
            <a:off x="548640" y="4297680"/>
            <a:ext cx="1645920" cy="411480"/>
          </a:xfrm>
          <a:prstGeom prst="roundRect">
            <a:avLst>
              <a:gd name="adj" fmla="val 22222"/>
            </a:avLst>
          </a:prstGeom>
          <a:solidFill>
            <a:schemeClr val="bg1"/>
          </a:solidFill>
          <a:ln/>
        </p:spPr>
        <p:txBody>
          <a:bodyPr wrap="square" lIns="0" tIns="0" rIns="0" bIns="0" rtlCol="0" anchor="ctr"/>
          <a:lstStyle/>
          <a:p>
            <a:pPr algn="ctr" indent="0" marL="0">
              <a:buNone/>
            </a:pPr>
            <a:r>
              <a:rPr lang="en-US" sz="1100" b="1" dirty="0">
                <a:solidFill>
                  <a:schemeClr val="tx1"/>
                </a:solidFill>
              </a:rPr>
              <a:t>audit_log</a:t>
            </a:r>
            <a:endParaRPr lang="en-US" sz="1100" dirty="0"/>
          </a:p>
        </p:txBody>
      </p:sp>
      <p:sp>
        <p:nvSpPr>
          <p:cNvPr id="20" name="constraints"/>
          <p:cNvSpPr/>
          <p:nvPr/>
        </p:nvSpPr>
        <p:spPr>
          <a:xfrm>
            <a:off x="548640" y="4892040"/>
            <a:ext cx="5212080" cy="1325880"/>
          </a:xfrm>
          <a:prstGeom prst="roundRect">
            <a:avLst>
              <a:gd name="adj" fmla="val 8276"/>
            </a:avLst>
          </a:prstGeom>
          <a:solidFill>
            <a:schemeClr val="tx2"/>
          </a:solidFill>
          <a:ln/>
        </p:spPr>
      </p:sp>
      <p:sp>
        <p:nvSpPr>
          <p:cNvPr id="21" name="Text 19"/>
          <p:cNvSpPr txBox="1"/>
          <p:nvPr/>
        </p:nvSpPr>
        <p:spPr>
          <a:xfrm>
            <a:off x="777240" y="5029200"/>
            <a:ext cx="4754880" cy="1097280"/>
          </a:xfrm>
          <a:prstGeom prst="rect">
            <a:avLst/>
          </a:prstGeom>
          <a:noFill/>
          <a:ln/>
        </p:spPr>
        <p:txBody>
          <a:bodyPr wrap="square" lIns="0" tIns="0" rIns="0" bIns="0" rtlCol="0" anchor="t"/>
          <a:lstStyle/>
          <a:p>
            <a:pPr indent="0" marL="0">
              <a:buNone/>
            </a:pPr>
            <a:r>
              <a:rPr lang="en-US" sz="1400" b="1" dirty="0">
                <a:solidFill>
                  <a:schemeClr val="accent1"/>
                </a:solidFill>
              </a:rPr>
              <a:t>Safety nets in the schema</a:t>
            </a:r>
            <a:endParaRPr lang="en-US" sz="1400" dirty="0"/>
          </a:p>
          <a:p>
            <a:pPr indent="0" marL="0">
              <a:buNone/>
            </a:pPr>
            <a:r>
              <a:rPr lang="en-US" sz="1400" dirty="0">
                <a:solidFill>
                  <a:schemeClr val="bg1"/>
                </a:solidFill>
              </a:rPr>
              <a:t>CHECK available &gt;= 0 and available + reserved + sold = total. UNIQUE idempotency keys, UNIQUE reservation_id on orders, one active payment per reservation.</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35040" y="1417320"/>
          <a:ext cx="5605272" cy="914400"/>
        </p:xfrm>
        <a:graphic>
          <a:graphicData uri="http://schemas.openxmlformats.org/drawingml/2006/table">
            <a:tbl>
              <a:tblPr/>
              <a:tblGrid>
                <a:gridCol w="3017520"/>
                <a:gridCol w="2587752"/>
              </a:tblGrid>
              <a:tr h="457200">
                <a:tc>
                  <a:txBody>
                    <a:bodyPr/>
                    <a:lstStyle/>
                    <a:p>
                      <a:pPr indent="0" marL="0">
                        <a:buNone/>
                      </a:pPr>
                      <a:r>
                        <a:rPr lang="en-US" sz="1300" b="1" dirty="0">
                          <a:solidFill>
                            <a:srgbClr val="FFFFFF"/>
                          </a:solidFill>
                        </a:rPr>
                        <a:t>Endpoint (/api/v1)</a:t>
                      </a:r>
                      <a:endParaRPr lang="en-US" sz="13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rPr>
                        <a:t>Behaviour</a:t>
                      </a:r>
                      <a:endParaRPr lang="en-US" sz="13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r>
              <a:tr h="457200">
                <a:tc>
                  <a:txBody>
                    <a:bodyPr/>
                    <a:lstStyle/>
                    <a:p>
                      <a:pPr indent="0" marL="0">
                        <a:buNone/>
                      </a:pPr>
                      <a:r>
                        <a:rPr lang="en-US" sz="1200" b="1" dirty="0">
                          <a:solidFill>
                            <a:srgbClr val="0B1220"/>
                          </a:solidFill>
                        </a:rPr>
                        <a:t>GET /products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Flash-sale catalog</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GET /products/{id}/inventory</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Stock snapshot</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POST /cart/items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Add item (Idempotency-Key)</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POST /reservations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201, 200 replay, 409, 410</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DELETE /reservations/{id}</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Release reservation</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POST /checkout</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Lock price quote</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POST /payments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200, 202, 402, 410</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GET /orders/{id}</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Order and shipment status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B1220"/>
                          </a:solidFill>
                        </a:rPr>
                        <a:t>PATCH /orders/{id}/transitions</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200" dirty="0">
                          <a:solidFill>
                            <a:srgbClr val="0B1220"/>
                          </a:solidFill>
                        </a:rPr>
                        <a:t>State-validated change</a:t>
                      </a:r>
                      <a:endParaRPr lang="en-US" sz="1200" dirty="0"/>
                    </a:p>
                  </a:txBody>
                  <a:tcPr marL="73152" marR="73152"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Backup: simulation evidence</a:t>
            </a:r>
            <a:endParaRPr lang="en-US" sz="3400" dirty="0"/>
          </a:p>
        </p:txBody>
      </p:sp>
      <p:sp>
        <p:nvSpPr>
          <p:cNvPr id="3" name="card"/>
          <p:cNvSpPr/>
          <p:nvPr/>
        </p:nvSpPr>
        <p:spPr>
          <a:xfrm>
            <a:off x="548640" y="1508760"/>
            <a:ext cx="2468880" cy="1417320"/>
          </a:xfrm>
          <a:prstGeom prst="roundRect">
            <a:avLst>
              <a:gd name="adj" fmla="val 7742"/>
            </a:avLst>
          </a:prstGeom>
          <a:solidFill>
            <a:schemeClr val="bg1"/>
          </a:solidFill>
          <a:ln/>
          <a:effectLst>
            <a:outerShdw sx="100000" sy="100000" kx="0" ky="0" algn="bl" rotWithShape="0" blurRad="101600" dist="25400" dir="5400000">
              <a:srgbClr val="0B1220">
                <a:alpha val="12000"/>
              </a:srgbClr>
            </a:outerShdw>
          </a:effectLst>
        </p:spPr>
      </p:sp>
      <p:sp>
        <p:nvSpPr>
          <p:cNvPr id="4" name="Text 2"/>
          <p:cNvSpPr txBox="1"/>
          <p:nvPr/>
        </p:nvSpPr>
        <p:spPr>
          <a:xfrm>
            <a:off x="731520" y="1691640"/>
            <a:ext cx="2103120" cy="548640"/>
          </a:xfrm>
          <a:prstGeom prst="rect">
            <a:avLst/>
          </a:prstGeom>
          <a:noFill/>
          <a:ln/>
        </p:spPr>
        <p:txBody>
          <a:bodyPr wrap="square" lIns="0" tIns="0" rIns="0" bIns="0" rtlCol="0" anchor="t"/>
          <a:lstStyle/>
          <a:p>
            <a:pPr indent="0" marL="0">
              <a:buNone/>
            </a:pPr>
            <a:r>
              <a:rPr lang="en-US" sz="2800" b="1" dirty="0">
                <a:solidFill>
                  <a:schemeClr val="accent2"/>
                </a:solidFill>
              </a:rPr>
              <a:t>10,212</a:t>
            </a:r>
            <a:endParaRPr lang="en-US" sz="2800" dirty="0"/>
          </a:p>
        </p:txBody>
      </p:sp>
      <p:sp>
        <p:nvSpPr>
          <p:cNvPr id="5" name="Text 3"/>
          <p:cNvSpPr txBox="1"/>
          <p:nvPr/>
        </p:nvSpPr>
        <p:spPr>
          <a:xfrm>
            <a:off x="731520" y="2286000"/>
            <a:ext cx="2103120" cy="548640"/>
          </a:xfrm>
          <a:prstGeom prst="rect">
            <a:avLst/>
          </a:prstGeom>
          <a:noFill/>
          <a:ln/>
        </p:spPr>
        <p:txBody>
          <a:bodyPr wrap="square" lIns="0" tIns="0" rIns="0" bIns="0" rtlCol="0" anchor="t"/>
          <a:lstStyle/>
          <a:p>
            <a:pPr indent="0" marL="0">
              <a:buNone/>
            </a:pPr>
            <a:r>
              <a:rPr lang="en-US" sz="1400" dirty="0">
                <a:solidFill>
                  <a:schemeClr val="accent6"/>
                </a:solidFill>
              </a:rPr>
              <a:t>reserve requests processed</a:t>
            </a:r>
            <a:endParaRPr lang="en-US" sz="1400" dirty="0"/>
          </a:p>
        </p:txBody>
      </p:sp>
      <p:sp>
        <p:nvSpPr>
          <p:cNvPr id="6" name="card"/>
          <p:cNvSpPr/>
          <p:nvPr/>
        </p:nvSpPr>
        <p:spPr>
          <a:xfrm>
            <a:off x="3246120" y="1508760"/>
            <a:ext cx="2468880" cy="1417320"/>
          </a:xfrm>
          <a:prstGeom prst="roundRect">
            <a:avLst>
              <a:gd name="adj" fmla="val 7742"/>
            </a:avLst>
          </a:prstGeom>
          <a:solidFill>
            <a:schemeClr val="bg1"/>
          </a:solidFill>
          <a:ln/>
          <a:effectLst>
            <a:outerShdw sx="100000" sy="100000" kx="0" ky="0" algn="bl" rotWithShape="0" blurRad="101600" dist="25400" dir="5400000">
              <a:srgbClr val="0B1220">
                <a:alpha val="12000"/>
              </a:srgbClr>
            </a:outerShdw>
          </a:effectLst>
        </p:spPr>
      </p:sp>
      <p:sp>
        <p:nvSpPr>
          <p:cNvPr id="7" name="Text 5"/>
          <p:cNvSpPr txBox="1"/>
          <p:nvPr/>
        </p:nvSpPr>
        <p:spPr>
          <a:xfrm>
            <a:off x="3429000" y="1691640"/>
            <a:ext cx="2103120" cy="548640"/>
          </a:xfrm>
          <a:prstGeom prst="rect">
            <a:avLst/>
          </a:prstGeom>
          <a:noFill/>
          <a:ln/>
        </p:spPr>
        <p:txBody>
          <a:bodyPr wrap="square" lIns="0" tIns="0" rIns="0" bIns="0" rtlCol="0" anchor="t"/>
          <a:lstStyle/>
          <a:p>
            <a:pPr indent="0" marL="0">
              <a:buNone/>
            </a:pPr>
            <a:r>
              <a:rPr lang="en-US" sz="2800" b="1" dirty="0">
                <a:solidFill>
                  <a:schemeClr val="accent2"/>
                </a:solidFill>
              </a:rPr>
              <a:t>100 / 100</a:t>
            </a:r>
            <a:endParaRPr lang="en-US" sz="2800" dirty="0"/>
          </a:p>
        </p:txBody>
      </p:sp>
      <p:sp>
        <p:nvSpPr>
          <p:cNvPr id="8" name="Text 6"/>
          <p:cNvSpPr txBox="1"/>
          <p:nvPr/>
        </p:nvSpPr>
        <p:spPr>
          <a:xfrm>
            <a:off x="3429000" y="2286000"/>
            <a:ext cx="2103120" cy="548640"/>
          </a:xfrm>
          <a:prstGeom prst="rect">
            <a:avLst/>
          </a:prstGeom>
          <a:noFill/>
          <a:ln/>
        </p:spPr>
        <p:txBody>
          <a:bodyPr wrap="square" lIns="0" tIns="0" rIns="0" bIns="0" rtlCol="0" anchor="t"/>
          <a:lstStyle/>
          <a:p>
            <a:pPr indent="0" marL="0">
              <a:buNone/>
            </a:pPr>
            <a:r>
              <a:rPr lang="en-US" sz="1400" dirty="0">
                <a:solidFill>
                  <a:schemeClr val="accent6"/>
                </a:solidFill>
              </a:rPr>
              <a:t>sold, 0 violations in 39 snapshots</a:t>
            </a:r>
            <a:endParaRPr lang="en-US" sz="1400" dirty="0"/>
          </a:p>
        </p:txBody>
      </p:sp>
      <p:sp>
        <p:nvSpPr>
          <p:cNvPr id="9" name="card"/>
          <p:cNvSpPr/>
          <p:nvPr/>
        </p:nvSpPr>
        <p:spPr>
          <a:xfrm>
            <a:off x="548640" y="3108960"/>
            <a:ext cx="2468880" cy="1417320"/>
          </a:xfrm>
          <a:prstGeom prst="roundRect">
            <a:avLst>
              <a:gd name="adj" fmla="val 7742"/>
            </a:avLst>
          </a:prstGeom>
          <a:solidFill>
            <a:schemeClr val="bg1"/>
          </a:solidFill>
          <a:ln/>
          <a:effectLst>
            <a:outerShdw sx="100000" sy="100000" kx="0" ky="0" algn="bl" rotWithShape="0" blurRad="101600" dist="25400" dir="5400000">
              <a:srgbClr val="0B1220">
                <a:alpha val="12000"/>
              </a:srgbClr>
            </a:outerShdw>
          </a:effectLst>
        </p:spPr>
      </p:sp>
      <p:sp>
        <p:nvSpPr>
          <p:cNvPr id="10" name="Text 8"/>
          <p:cNvSpPr txBox="1"/>
          <p:nvPr/>
        </p:nvSpPr>
        <p:spPr>
          <a:xfrm>
            <a:off x="731520" y="3291840"/>
            <a:ext cx="2103120" cy="548640"/>
          </a:xfrm>
          <a:prstGeom prst="rect">
            <a:avLst/>
          </a:prstGeom>
          <a:noFill/>
          <a:ln/>
        </p:spPr>
        <p:txBody>
          <a:bodyPr wrap="square" lIns="0" tIns="0" rIns="0" bIns="0" rtlCol="0" anchor="t"/>
          <a:lstStyle/>
          <a:p>
            <a:pPr indent="0" marL="0">
              <a:buNone/>
            </a:pPr>
            <a:r>
              <a:rPr lang="en-US" sz="2800" b="1" dirty="0">
                <a:solidFill>
                  <a:schemeClr val="accent2"/>
                </a:solidFill>
              </a:rPr>
              <a:t>100</a:t>
            </a:r>
            <a:endParaRPr lang="en-US" sz="2800" dirty="0"/>
          </a:p>
        </p:txBody>
      </p:sp>
      <p:sp>
        <p:nvSpPr>
          <p:cNvPr id="11" name="Text 9"/>
          <p:cNvSpPr txBox="1"/>
          <p:nvPr/>
        </p:nvSpPr>
        <p:spPr>
          <a:xfrm>
            <a:off x="731520" y="3886200"/>
            <a:ext cx="2103120" cy="548640"/>
          </a:xfrm>
          <a:prstGeom prst="rect">
            <a:avLst/>
          </a:prstGeom>
          <a:noFill/>
          <a:ln/>
        </p:spPr>
        <p:txBody>
          <a:bodyPr wrap="square" lIns="0" tIns="0" rIns="0" bIns="0" rtlCol="0" anchor="t"/>
          <a:lstStyle/>
          <a:p>
            <a:pPr indent="0" marL="0">
              <a:buNone/>
            </a:pPr>
            <a:r>
              <a:rPr lang="en-US" sz="1400" dirty="0">
                <a:solidFill>
                  <a:schemeClr val="accent6"/>
                </a:solidFill>
              </a:rPr>
              <a:t>orders confirmed after the outage</a:t>
            </a:r>
            <a:endParaRPr lang="en-US" sz="1400" dirty="0"/>
          </a:p>
        </p:txBody>
      </p:sp>
      <p:sp>
        <p:nvSpPr>
          <p:cNvPr id="12" name="card"/>
          <p:cNvSpPr/>
          <p:nvPr/>
        </p:nvSpPr>
        <p:spPr>
          <a:xfrm>
            <a:off x="3246120" y="3108960"/>
            <a:ext cx="2468880" cy="1417320"/>
          </a:xfrm>
          <a:prstGeom prst="roundRect">
            <a:avLst>
              <a:gd name="adj" fmla="val 7742"/>
            </a:avLst>
          </a:prstGeom>
          <a:solidFill>
            <a:schemeClr val="bg1"/>
          </a:solidFill>
          <a:ln/>
          <a:effectLst>
            <a:outerShdw sx="100000" sy="100000" kx="0" ky="0" algn="bl" rotWithShape="0" blurRad="101600" dist="25400" dir="5400000">
              <a:srgbClr val="0B1220">
                <a:alpha val="12000"/>
              </a:srgbClr>
            </a:outerShdw>
          </a:effectLst>
        </p:spPr>
      </p:sp>
      <p:sp>
        <p:nvSpPr>
          <p:cNvPr id="13" name="Text 11"/>
          <p:cNvSpPr txBox="1"/>
          <p:nvPr/>
        </p:nvSpPr>
        <p:spPr>
          <a:xfrm>
            <a:off x="3429000" y="3291840"/>
            <a:ext cx="2103120" cy="548640"/>
          </a:xfrm>
          <a:prstGeom prst="rect">
            <a:avLst/>
          </a:prstGeom>
          <a:noFill/>
          <a:ln/>
        </p:spPr>
        <p:txBody>
          <a:bodyPr wrap="square" lIns="0" tIns="0" rIns="0" bIns="0" rtlCol="0" anchor="t"/>
          <a:lstStyle/>
          <a:p>
            <a:pPr indent="0" marL="0">
              <a:buNone/>
            </a:pPr>
            <a:r>
              <a:rPr lang="en-US" sz="2800" b="1" dirty="0">
                <a:solidFill>
                  <a:schemeClr val="accent2"/>
                </a:solidFill>
              </a:rPr>
              <a:t>0.878 s</a:t>
            </a:r>
            <a:endParaRPr lang="en-US" sz="2800" dirty="0"/>
          </a:p>
        </p:txBody>
      </p:sp>
      <p:sp>
        <p:nvSpPr>
          <p:cNvPr id="14" name="Text 12"/>
          <p:cNvSpPr txBox="1"/>
          <p:nvPr/>
        </p:nvSpPr>
        <p:spPr>
          <a:xfrm>
            <a:off x="3429000" y="3886200"/>
            <a:ext cx="2103120" cy="548640"/>
          </a:xfrm>
          <a:prstGeom prst="rect">
            <a:avLst/>
          </a:prstGeom>
          <a:noFill/>
          <a:ln/>
        </p:spPr>
        <p:txBody>
          <a:bodyPr wrap="square" lIns="0" tIns="0" rIns="0" bIns="0" rtlCol="0" anchor="t"/>
          <a:lstStyle/>
          <a:p>
            <a:pPr indent="0" marL="0">
              <a:buNone/>
            </a:pPr>
            <a:r>
              <a:rPr lang="en-US" sz="1400" dirty="0">
                <a:solidFill>
                  <a:schemeClr val="accent6"/>
                </a:solidFill>
              </a:rPr>
              <a:t>total run time</a:t>
            </a:r>
            <a:endParaRPr lang="en-US" sz="1400" dirty="0"/>
          </a:p>
        </p:txBody>
      </p:sp>
      <p:sp>
        <p:nvSpPr>
          <p:cNvPr id="15" name="sim-note"/>
          <p:cNvSpPr/>
          <p:nvPr/>
        </p:nvSpPr>
        <p:spPr>
          <a:xfrm>
            <a:off x="548640" y="4846320"/>
            <a:ext cx="5166360" cy="1371600"/>
          </a:xfrm>
          <a:prstGeom prst="roundRect">
            <a:avLst>
              <a:gd name="adj" fmla="val 8000"/>
            </a:avLst>
          </a:prstGeom>
          <a:solidFill>
            <a:schemeClr val="tx2"/>
          </a:solidFill>
          <a:ln/>
        </p:spPr>
      </p:sp>
      <p:sp>
        <p:nvSpPr>
          <p:cNvPr id="16" name="Text 14"/>
          <p:cNvSpPr txBox="1"/>
          <p:nvPr/>
        </p:nvSpPr>
        <p:spPr>
          <a:xfrm>
            <a:off x="777240" y="4983480"/>
            <a:ext cx="4709160" cy="1143000"/>
          </a:xfrm>
          <a:prstGeom prst="rect">
            <a:avLst/>
          </a:prstGeom>
          <a:noFill/>
          <a:ln/>
        </p:spPr>
        <p:txBody>
          <a:bodyPr wrap="square" lIns="0" tIns="0" rIns="0" bIns="0" rtlCol="0" anchor="ctr"/>
          <a:lstStyle/>
          <a:p>
            <a:pPr indent="0" marL="0">
              <a:buNone/>
            </a:pPr>
            <a:r>
              <a:rPr lang="en-US" sz="1400" dirty="0">
                <a:solidFill>
                  <a:schemeClr val="bg1"/>
                </a:solidFill>
              </a:rPr>
              <a:t>Python 3, ThreadPoolExecutor(64), SQLite WAL. </a:t>
            </a:r>
            <a:pPr indent="0" marL="0">
              <a:buNone/>
            </a:pPr>
            <a:r>
              <a:rPr lang="en-US" sz="1400" dirty="0">
                <a:solidFill>
                  <a:schemeClr val="bg1"/>
                </a:solidFill>
              </a:rPr>
              <a:t>Circuit breaker: 1 trip, 80 fast-fails, final state CLOSED. Validates the design logic, not production throughput.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1508760"/>
          <a:ext cx="5605272" cy="914400"/>
        </p:xfrm>
        <a:graphic>
          <a:graphicData uri="http://schemas.openxmlformats.org/drawingml/2006/table">
            <a:tbl>
              <a:tblPr/>
              <a:tblGrid>
                <a:gridCol w="4233672"/>
                <a:gridCol w="1371600"/>
              </a:tblGrid>
              <a:tr h="457200">
                <a:tc>
                  <a:txBody>
                    <a:bodyPr/>
                    <a:lstStyle/>
                    <a:p>
                      <a:pPr algn="l" indent="0" marL="0">
                        <a:buNone/>
                      </a:pPr>
                      <a:r>
                        <a:rPr lang="en-US" sz="1400" b="1" dirty="0">
                          <a:solidFill>
                            <a:srgbClr val="FFFFFF"/>
                          </a:solidFill>
                        </a:rPr>
                        <a:t>HTTP outcome</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rPr>
                        <a:t>Count</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r>
              <a:tr h="457200">
                <a:tc>
                  <a:txBody>
                    <a:bodyPr/>
                    <a:lstStyle/>
                    <a:p>
                      <a:pPr indent="0" marL="0">
                        <a:buNone/>
                      </a:pPr>
                      <a:r>
                        <a:rPr lang="en-US" sz="1400" dirty="0">
                          <a:solidFill>
                            <a:srgbClr val="0B1220"/>
                          </a:solidFill>
                        </a:rPr>
                        <a:t>201 Reserved</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111</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200 Reserve replay (idempotent)</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200</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409 Sold out</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9,900</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410 Reservation expired</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1</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200 Payment success</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99</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202 Timeout, reconciled</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1</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200 Payment replay</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20</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402 Payment failed, released</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5</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0B1220"/>
                          </a:solidFill>
                        </a:rPr>
                        <a:t>200 Late payment auto-refunded</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1220"/>
                          </a:solidFill>
                        </a:rPr>
                        <a:t>1</a:t>
                      </a:r>
                      <a:endParaRPr lang="en-US" sz="1400" dirty="0"/>
                    </a:p>
                  </a:txBody>
                  <a:tcPr marL="91440" marR="91440"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11091672" cy="914400"/>
          </a:xfrm>
          <a:prstGeom prst="rect">
            <a:avLst/>
          </a:prstGeom>
          <a:noFill/>
          <a:ln/>
        </p:spPr>
        <p:txBody>
          <a:bodyPr wrap="square" lIns="0" tIns="0" rIns="0" bIns="0" rtlCol="0" anchor="ctr"/>
          <a:lstStyle/>
          <a:p>
            <a:pPr algn="l" indent="0" marL="0">
              <a:buNone/>
            </a:pPr>
            <a:r>
              <a:rPr lang="en-US" sz="3400" b="1" dirty="0">
                <a:solidFill>
                  <a:schemeClr val="tx1"/>
                </a:solidFill>
              </a:rPr>
              <a:t>Backup: key decisions and alternatives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286000"/>
                <a:gridCol w="4023360"/>
                <a:gridCol w="4782312"/>
              </a:tblGrid>
              <a:tr h="457200">
                <a:tc>
                  <a:txBody>
                    <a:bodyPr/>
                    <a:lstStyle/>
                    <a:p>
                      <a:pPr indent="0" marL="0">
                        <a:buNone/>
                      </a:pPr>
                      <a:r>
                        <a:rPr lang="en-US" sz="1400" b="1" dirty="0">
                          <a:solidFill>
                            <a:srgbClr val="FFFFFF"/>
                          </a:solidFill>
                        </a:rPr>
                        <a:t>Decision</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We chose</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We rejected, because</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4213D"/>
                    </a:solidFill>
                  </a:tcPr>
                </a:tc>
              </a:tr>
              <a:tr h="1005840">
                <a:tc>
                  <a:txBody>
                    <a:bodyPr/>
                    <a:lstStyle/>
                    <a:p>
                      <a:pPr indent="0" marL="0">
                        <a:buNone/>
                      </a:pPr>
                      <a:r>
                        <a:rPr lang="en-US" sz="1400" b="1" dirty="0">
                          <a:solidFill>
                            <a:srgbClr val="0B1220"/>
                          </a:solidFill>
                        </a:rPr>
                        <a:t>Inventory contention</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Redis Lua gate, then one conditional SQL UPDATE</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Optimistic locking: retry storm when 10,000 read version = 1. SELECT ... FOR UPDATE gate: exhausts DB connections.</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1005840">
                <a:tc>
                  <a:txBody>
                    <a:bodyPr/>
                    <a:lstStyle/>
                    <a:p>
                      <a:pPr indent="0" marL="0">
                        <a:buNone/>
                      </a:pPr>
                      <a:r>
                        <a:rPr lang="en-US" sz="1400" b="1" dirty="0">
                          <a:solidFill>
                            <a:srgbClr val="0B1220"/>
                          </a:solidFill>
                        </a:rPr>
                        <a:t>Order creation</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Transactional outbox + Kafka, asynchronous</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Synchronous HTTP to OrderService: a 30 s outage would break paid checkouts.</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1005840">
                <a:tc>
                  <a:txBody>
                    <a:bodyPr/>
                    <a:lstStyle/>
                    <a:p>
                      <a:pPr indent="0" marL="0">
                        <a:buNone/>
                      </a:pPr>
                      <a:r>
                        <a:rPr lang="en-US" sz="1400" b="1" dirty="0">
                          <a:solidFill>
                            <a:srgbClr val="0B1220"/>
                          </a:solidFill>
                        </a:rPr>
                        <a:t>Payment vs expiry race</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PAYMENT_PENDING grace lock; the sweeper never touches it</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One sweeper for every state: could release stock mid-payment.</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1005840">
                <a:tc>
                  <a:txBody>
                    <a:bodyPr/>
                    <a:lstStyle/>
                    <a:p>
                      <a:pPr indent="0" marL="0">
                        <a:buNone/>
                      </a:pPr>
                      <a:r>
                        <a:rPr lang="en-US" sz="1400" b="1" dirty="0">
                          <a:solidFill>
                            <a:srgbClr val="0B1220"/>
                          </a:solidFill>
                        </a:rPr>
                        <a:t>Gateway call</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Outside the DB transaction, deterministic tx_ref, circuit breaker</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400" dirty="0">
                          <a:solidFill>
                            <a:srgbClr val="0B1220"/>
                          </a:solidFill>
                        </a:rPr>
                        <a:t>Inside a transaction: holds locks while waiting up to 3 s for the gateway.</a:t>
                      </a:r>
                      <a:endParaRPr lang="en-US" sz="1400" dirty="0"/>
                    </a:p>
                  </a:txBody>
                  <a:tcPr marL="109728" marR="109728" marT="0" marB="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alestorm">
  <a:themeElements>
    <a:clrScheme name="Salestorm">
      <a:dk1>
        <a:srgbClr val="0B1220"/>
      </a:dk1>
      <a:lt1>
        <a:srgbClr val="FFFFFF"/>
      </a:lt1>
      <a:dk2>
        <a:srgbClr val="14213D"/>
      </a:dk2>
      <a:lt2>
        <a:srgbClr val="EEF2F8"/>
      </a:lt2>
      <a:accent1>
        <a:srgbClr val="F5A800"/>
      </a:accent1>
      <a:accent2>
        <a:srgbClr val="1F6FEB"/>
      </a:accent2>
      <a:accent3>
        <a:srgbClr val="15803D"/>
      </a:accent3>
      <a:accent4>
        <a:srgbClr val="C62828"/>
      </a:accent4>
      <a:accent5>
        <a:srgbClr val="6D28D9"/>
      </a:accent5>
      <a:accent6>
        <a:srgbClr val="5B6B82"/>
      </a:accent6>
      <a:hlink>
        <a:srgbClr val="1F6FEB"/>
      </a:hlink>
      <a:folHlink>
        <a:srgbClr val="6D28D9"/>
      </a:folHlink>
    </a:clrScheme>
    <a:fontScheme name="Salesto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SALESTORM - Team 1 - SYSCRAFTERS 2026</dc:title>
  <dc:subject>PptxGenJS Presentation</dc:subject>
  <dc:creator>Team 1</dc:creator>
  <cp:lastModifiedBy>Team 1</cp:lastModifiedBy>
  <cp:revision>1</cp:revision>
  <dcterms:created xsi:type="dcterms:W3CDTF">2026-10-12T04:42:31Z</dcterms:created>
  <dcterms:modified xsi:type="dcterms:W3CDTF">2026-10-12T04:42:31Z</dcterms:modified>
</cp:coreProperties>
</file>